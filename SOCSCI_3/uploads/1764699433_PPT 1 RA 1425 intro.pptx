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CB97B1-1977-42D9-90AB-B3804BBD066F}">
  <a:tblStyle styleId="{60CB97B1-1977-42D9-90AB-B3804BBD066F}" styleName="Table_0">
    <a:wholeTbl>
      <a:tcTxStyle b="off" i="off">
        <a:font>
          <a:latin typeface="Tw Cen MT"/>
          <a:ea typeface="Tw Cen MT"/>
          <a:cs typeface="Tw Cen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AE8EC"/>
          </a:solidFill>
        </a:fill>
      </a:tcStyle>
    </a:wholeTbl>
    <a:band1H>
      <a:tcTxStyle/>
      <a:tcStyle>
        <a:fill>
          <a:solidFill>
            <a:srgbClr val="F4CED6"/>
          </a:solidFill>
        </a:fill>
      </a:tcStyle>
    </a:band1H>
    <a:band2H>
      <a:tcTxStyle/>
    </a:band2H>
    <a:band1V>
      <a:tcTxStyle/>
      <a:tcStyle>
        <a:fill>
          <a:solidFill>
            <a:srgbClr val="F4CED6"/>
          </a:solidFill>
        </a:fill>
      </a:tcStyle>
    </a:band1V>
    <a:band2V>
      <a:tcTxStyle/>
    </a:band2V>
    <a:lastCol>
      <a:tcTxStyle b="on" i="off">
        <a:font>
          <a:latin typeface="Tw Cen MT"/>
          <a:ea typeface="Tw Cen MT"/>
          <a:cs typeface="Tw Cen MT"/>
        </a:font>
        <a:schemeClr val="lt1"/>
      </a:tcTxStyle>
      <a:tcStyle>
        <a:fill>
          <a:solidFill>
            <a:schemeClr val="accent1"/>
          </a:solidFill>
        </a:fill>
      </a:tcStyle>
    </a:lastCol>
    <a:firstCol>
      <a:tcTxStyle b="on" i="off">
        <a:font>
          <a:latin typeface="Tw Cen MT"/>
          <a:ea typeface="Tw Cen MT"/>
          <a:cs typeface="Tw Cen MT"/>
        </a:font>
        <a:schemeClr val="lt1"/>
      </a:tcTxStyle>
      <a:tcStyle>
        <a:fill>
          <a:solidFill>
            <a:schemeClr val="accent1"/>
          </a:solidFill>
        </a:fill>
      </a:tcStyle>
    </a:firstCol>
    <a:lastRow>
      <a:tcTxStyle b="on" i="off">
        <a:font>
          <a:latin typeface="Tw Cen MT"/>
          <a:ea typeface="Tw Cen MT"/>
          <a:cs typeface="Tw Cen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w Cen MT"/>
          <a:ea typeface="Tw Cen MT"/>
          <a:cs typeface="Tw Cen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 name="Shape 16"/>
        <p:cNvGrpSpPr/>
        <p:nvPr/>
      </p:nvGrpSpPr>
      <p:grpSpPr>
        <a:xfrm>
          <a:off x="0" y="0"/>
          <a:ext cx="0" cy="0"/>
          <a:chOff x="0" y="0"/>
          <a:chExt cx="0" cy="0"/>
        </a:xfrm>
      </p:grpSpPr>
      <p:pic>
        <p:nvPicPr>
          <p:cNvPr descr="Droplets-HD-Content-R1d.png" id="17" name="Google Shape;17;p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 name="Google Shape;18;p2"/>
          <p:cNvSpPr txBox="1"/>
          <p:nvPr>
            <p:ph type="title"/>
          </p:nvPr>
        </p:nvSpPr>
        <p:spPr>
          <a:xfrm>
            <a:off x="913775" y="609600"/>
            <a:ext cx="3935688" cy="202325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body"/>
          </p:nvPr>
        </p:nvSpPr>
        <p:spPr>
          <a:xfrm>
            <a:off x="5078062" y="609600"/>
            <a:ext cx="6200163" cy="518159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0" name="Google Shape;20;p2"/>
          <p:cNvSpPr txBox="1"/>
          <p:nvPr>
            <p:ph idx="2" type="body"/>
          </p:nvPr>
        </p:nvSpPr>
        <p:spPr>
          <a:xfrm>
            <a:off x="913774" y="2632852"/>
            <a:ext cx="3935689" cy="315834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21" name="Google Shape;21;p2"/>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Droplets-HD-Content-R1d.png" id="25" name="Google Shape;25;p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6" name="Google Shape;26;p3"/>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8" name="Google Shape;28;p3"/>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pic>
        <p:nvPicPr>
          <p:cNvPr descr="Droplets-HD-Title-R1d.png" id="32" name="Google Shape;32;p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3" name="Google Shape;33;p4"/>
          <p:cNvSpPr txBox="1"/>
          <p:nvPr>
            <p:ph type="ctrTitle"/>
          </p:nvPr>
        </p:nvSpPr>
        <p:spPr>
          <a:xfrm>
            <a:off x="1751012" y="1300785"/>
            <a:ext cx="8689976" cy="2509213"/>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800"/>
              <a:buFont typeface="Twentieth Centur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 type="subTitle"/>
          </p:nvPr>
        </p:nvSpPr>
        <p:spPr>
          <a:xfrm>
            <a:off x="1751012" y="3886200"/>
            <a:ext cx="8689976" cy="1371599"/>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SzPts val="2200"/>
              <a:buNone/>
              <a:defRPr sz="2200">
                <a:solidFill>
                  <a:srgbClr val="7F7F7F"/>
                </a:solidFill>
              </a:defRPr>
            </a:lvl1pPr>
            <a:lvl2pPr lvl="1" algn="ctr">
              <a:lnSpc>
                <a:spcPct val="120000"/>
              </a:lnSpc>
              <a:spcBef>
                <a:spcPts val="500"/>
              </a:spcBef>
              <a:spcAft>
                <a:spcPts val="0"/>
              </a:spcAft>
              <a:buSzPts val="2000"/>
              <a:buNone/>
              <a:defRPr sz="20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35" name="Google Shape;35;p4"/>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pic>
        <p:nvPicPr>
          <p:cNvPr descr="Droplets-HD-Content-R1d.png" id="39" name="Google Shape;39;p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0" name="Google Shape;40;p5"/>
          <p:cNvSpPr txBox="1"/>
          <p:nvPr>
            <p:ph type="title"/>
          </p:nvPr>
        </p:nvSpPr>
        <p:spPr>
          <a:xfrm>
            <a:off x="913774" y="828563"/>
            <a:ext cx="10351752" cy="2736819"/>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5"/>
          <p:cNvSpPr txBox="1"/>
          <p:nvPr>
            <p:ph idx="1" type="body"/>
          </p:nvPr>
        </p:nvSpPr>
        <p:spPr>
          <a:xfrm>
            <a:off x="913774" y="3657457"/>
            <a:ext cx="10351752" cy="1368183"/>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2000"/>
              <a:buNone/>
              <a:defRPr sz="2000">
                <a:solidFill>
                  <a:srgbClr val="7F7F7F"/>
                </a:solidFill>
              </a:defRPr>
            </a:lvl1pPr>
            <a:lvl2pPr indent="-228600" lvl="1" marL="914400" algn="l">
              <a:lnSpc>
                <a:spcPct val="120000"/>
              </a:lnSpc>
              <a:spcBef>
                <a:spcPts val="500"/>
              </a:spcBef>
              <a:spcAft>
                <a:spcPts val="0"/>
              </a:spcAft>
              <a:buSzPts val="2000"/>
              <a:buNone/>
              <a:defRPr sz="20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42" name="Google Shape;42;p5"/>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pic>
        <p:nvPicPr>
          <p:cNvPr descr="Droplets-HD-Content-R1d.png" id="46" name="Google Shape;46;p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7" name="Google Shape;47;p6"/>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6"/>
          <p:cNvSpPr txBox="1"/>
          <p:nvPr>
            <p:ph idx="1" type="body"/>
          </p:nvPr>
        </p:nvSpPr>
        <p:spPr>
          <a:xfrm>
            <a:off x="913774" y="2367092"/>
            <a:ext cx="51060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9" name="Google Shape;49;p6"/>
          <p:cNvSpPr txBox="1"/>
          <p:nvPr>
            <p:ph idx="2" type="body"/>
          </p:nvPr>
        </p:nvSpPr>
        <p:spPr>
          <a:xfrm>
            <a:off x="6172200" y="2367092"/>
            <a:ext cx="5105400"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0" name="Google Shape;50;p6"/>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pic>
        <p:nvPicPr>
          <p:cNvPr descr="Droplets-HD-Content-R1d.png" id="54" name="Google Shape;54;p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5" name="Google Shape;55;p7"/>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7"/>
          <p:cNvSpPr txBox="1"/>
          <p:nvPr>
            <p:ph idx="1" type="body"/>
          </p:nvPr>
        </p:nvSpPr>
        <p:spPr>
          <a:xfrm>
            <a:off x="1146328" y="2371018"/>
            <a:ext cx="4873474" cy="679994"/>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1000"/>
              </a:spcBef>
              <a:spcAft>
                <a:spcPts val="0"/>
              </a:spcAft>
              <a:buSzPts val="2600"/>
              <a:buNone/>
              <a:defRPr b="0" sz="26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7" name="Google Shape;57;p7"/>
          <p:cNvSpPr txBox="1"/>
          <p:nvPr>
            <p:ph idx="2" type="body"/>
          </p:nvPr>
        </p:nvSpPr>
        <p:spPr>
          <a:xfrm>
            <a:off x="913774" y="3051012"/>
            <a:ext cx="5106027" cy="27401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8" name="Google Shape;58;p7"/>
          <p:cNvSpPr txBox="1"/>
          <p:nvPr>
            <p:ph idx="3" type="body"/>
          </p:nvPr>
        </p:nvSpPr>
        <p:spPr>
          <a:xfrm>
            <a:off x="6396423" y="2371018"/>
            <a:ext cx="4881804" cy="679994"/>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1000"/>
              </a:spcBef>
              <a:spcAft>
                <a:spcPts val="0"/>
              </a:spcAft>
              <a:buSzPts val="2600"/>
              <a:buNone/>
              <a:defRPr b="0" sz="26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9" name="Google Shape;59;p7"/>
          <p:cNvSpPr txBox="1"/>
          <p:nvPr>
            <p:ph idx="4" type="body"/>
          </p:nvPr>
        </p:nvSpPr>
        <p:spPr>
          <a:xfrm>
            <a:off x="6172200" y="3051012"/>
            <a:ext cx="5105401" cy="27401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0" name="Google Shape;60;p7"/>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pic>
        <p:nvPicPr>
          <p:cNvPr descr="Droplets-HD-Content-R1d.png" id="64" name="Google Shape;64;p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5" name="Google Shape;65;p8"/>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8"/>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8"/>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pic>
        <p:nvPicPr>
          <p:cNvPr descr="Droplets-HD-Content-R1d.png" id="70" name="Google Shape;70;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1" name="Google Shape;71;p9"/>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pic>
        <p:nvPicPr>
          <p:cNvPr descr="Droplets-HD-Content-R1d.png" id="75" name="Google Shape;75;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6" name="Google Shape;76;p10"/>
          <p:cNvSpPr txBox="1"/>
          <p:nvPr>
            <p:ph type="title"/>
          </p:nvPr>
        </p:nvSpPr>
        <p:spPr>
          <a:xfrm>
            <a:off x="913774" y="609600"/>
            <a:ext cx="5934969" cy="2023254"/>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0"/>
          <p:cNvSpPr/>
          <p:nvPr>
            <p:ph idx="2" type="pic"/>
          </p:nvPr>
        </p:nvSpPr>
        <p:spPr>
          <a:xfrm>
            <a:off x="7424803" y="609601"/>
            <a:ext cx="3255358" cy="5181600"/>
          </a:xfrm>
          <a:prstGeom prst="roundRect">
            <a:avLst>
              <a:gd fmla="val 4943" name="adj"/>
            </a:avLst>
          </a:prstGeom>
          <a:noFill/>
          <a:ln cap="sq" cmpd="sng" w="82550">
            <a:solidFill>
              <a:srgbClr val="CBD7E6"/>
            </a:solidFill>
            <a:prstDash val="solid"/>
            <a:miter lim="800000"/>
            <a:headEnd len="sm" w="sm" type="none"/>
            <a:tailEnd len="sm" w="sm" type="none"/>
          </a:ln>
        </p:spPr>
      </p:sp>
      <p:sp>
        <p:nvSpPr>
          <p:cNvPr id="78" name="Google Shape;78;p10"/>
          <p:cNvSpPr txBox="1"/>
          <p:nvPr>
            <p:ph idx="1" type="body"/>
          </p:nvPr>
        </p:nvSpPr>
        <p:spPr>
          <a:xfrm>
            <a:off x="913794" y="2632852"/>
            <a:ext cx="5934949" cy="3158347"/>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9" name="Google Shape;79;p10"/>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0"/>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2" name="Shape 82"/>
        <p:cNvGrpSpPr/>
        <p:nvPr/>
      </p:nvGrpSpPr>
      <p:grpSpPr>
        <a:xfrm>
          <a:off x="0" y="0"/>
          <a:ext cx="0" cy="0"/>
          <a:chOff x="0" y="0"/>
          <a:chExt cx="0" cy="0"/>
        </a:xfrm>
      </p:grpSpPr>
      <p:pic>
        <p:nvPicPr>
          <p:cNvPr descr="Droplets-HD-Content-R1d.png" id="83" name="Google Shape;83;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4" name="Google Shape;84;p11"/>
          <p:cNvSpPr txBox="1"/>
          <p:nvPr>
            <p:ph type="title"/>
          </p:nvPr>
        </p:nvSpPr>
        <p:spPr>
          <a:xfrm>
            <a:off x="913794" y="4289374"/>
            <a:ext cx="10364432" cy="81161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1"/>
          <p:cNvSpPr/>
          <p:nvPr>
            <p:ph idx="2" type="pic"/>
          </p:nvPr>
        </p:nvSpPr>
        <p:spPr>
          <a:xfrm>
            <a:off x="1184744" y="698261"/>
            <a:ext cx="9822532" cy="3214136"/>
          </a:xfrm>
          <a:prstGeom prst="roundRect">
            <a:avLst>
              <a:gd fmla="val 4944" name="adj"/>
            </a:avLst>
          </a:prstGeom>
          <a:noFill/>
          <a:ln cap="sq" cmpd="sng" w="82550">
            <a:solidFill>
              <a:srgbClr val="CBD7E6"/>
            </a:solidFill>
            <a:prstDash val="solid"/>
            <a:miter lim="800000"/>
            <a:headEnd len="sm" w="sm" type="none"/>
            <a:tailEnd len="sm" w="sm" type="none"/>
          </a:ln>
        </p:spPr>
      </p:sp>
      <p:sp>
        <p:nvSpPr>
          <p:cNvPr id="86" name="Google Shape;86;p11"/>
          <p:cNvSpPr txBox="1"/>
          <p:nvPr>
            <p:ph idx="1" type="body"/>
          </p:nvPr>
        </p:nvSpPr>
        <p:spPr>
          <a:xfrm>
            <a:off x="913774" y="5108728"/>
            <a:ext cx="10364452" cy="682472"/>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87" name="Google Shape;87;p11"/>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1"/>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1"/>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0" name="Shape 90"/>
        <p:cNvGrpSpPr/>
        <p:nvPr/>
      </p:nvGrpSpPr>
      <p:grpSpPr>
        <a:xfrm>
          <a:off x="0" y="0"/>
          <a:ext cx="0" cy="0"/>
          <a:chOff x="0" y="0"/>
          <a:chExt cx="0" cy="0"/>
        </a:xfrm>
      </p:grpSpPr>
      <p:pic>
        <p:nvPicPr>
          <p:cNvPr descr="Droplets-HD-Content-R1d.png" id="91" name="Google Shape;91;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2" name="Google Shape;92;p12"/>
          <p:cNvSpPr txBox="1"/>
          <p:nvPr>
            <p:ph type="title"/>
          </p:nvPr>
        </p:nvSpPr>
        <p:spPr>
          <a:xfrm>
            <a:off x="913774" y="609599"/>
            <a:ext cx="10364452" cy="342724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2"/>
          <p:cNvSpPr txBox="1"/>
          <p:nvPr>
            <p:ph idx="1" type="body"/>
          </p:nvPr>
        </p:nvSpPr>
        <p:spPr>
          <a:xfrm>
            <a:off x="913775" y="4204821"/>
            <a:ext cx="10364452" cy="1586380"/>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4" name="Google Shape;94;p12"/>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7" name="Shape 97"/>
        <p:cNvGrpSpPr/>
        <p:nvPr/>
      </p:nvGrpSpPr>
      <p:grpSpPr>
        <a:xfrm>
          <a:off x="0" y="0"/>
          <a:ext cx="0" cy="0"/>
          <a:chOff x="0" y="0"/>
          <a:chExt cx="0" cy="0"/>
        </a:xfrm>
      </p:grpSpPr>
      <p:pic>
        <p:nvPicPr>
          <p:cNvPr descr="Droplets-HD-Content-R1d.png" id="98" name="Google Shape;98;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9" name="Google Shape;99;p13"/>
          <p:cNvSpPr txBox="1"/>
          <p:nvPr>
            <p:ph type="title"/>
          </p:nvPr>
        </p:nvSpPr>
        <p:spPr>
          <a:xfrm>
            <a:off x="1446212" y="609600"/>
            <a:ext cx="9302752" cy="299290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3"/>
          <p:cNvSpPr txBox="1"/>
          <p:nvPr>
            <p:ph idx="1" type="body"/>
          </p:nvPr>
        </p:nvSpPr>
        <p:spPr>
          <a:xfrm>
            <a:off x="1720644" y="3610032"/>
            <a:ext cx="8752299" cy="59478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101" name="Google Shape;101;p13"/>
          <p:cNvSpPr txBox="1"/>
          <p:nvPr>
            <p:ph idx="2" type="body"/>
          </p:nvPr>
        </p:nvSpPr>
        <p:spPr>
          <a:xfrm>
            <a:off x="913774" y="4372796"/>
            <a:ext cx="10364452" cy="1421053"/>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102" name="Google Shape;102;p13"/>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3"/>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3"/>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5" name="Google Shape;105;p13"/>
          <p:cNvSpPr txBox="1"/>
          <p:nvPr/>
        </p:nvSpPr>
        <p:spPr>
          <a:xfrm>
            <a:off x="1001488" y="75416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Twentieth Century"/>
              <a:buNone/>
            </a:pPr>
            <a:r>
              <a:rPr b="0" i="0" lang="en-US" sz="8000" u="none" cap="none" strike="noStrike">
                <a:solidFill>
                  <a:schemeClr val="dk1"/>
                </a:solidFill>
                <a:latin typeface="Twentieth Century"/>
                <a:ea typeface="Twentieth Century"/>
                <a:cs typeface="Twentieth Century"/>
                <a:sym typeface="Twentieth Century"/>
              </a:rPr>
              <a:t>“</a:t>
            </a:r>
            <a:endParaRPr/>
          </a:p>
        </p:txBody>
      </p:sp>
      <p:sp>
        <p:nvSpPr>
          <p:cNvPr id="106" name="Google Shape;106;p13"/>
          <p:cNvSpPr txBox="1"/>
          <p:nvPr/>
        </p:nvSpPr>
        <p:spPr>
          <a:xfrm>
            <a:off x="10557558" y="299357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Twentieth Century"/>
              <a:buNone/>
            </a:pPr>
            <a:r>
              <a:rPr b="0" i="0" lang="en-US" sz="8000" u="none" cap="none" strike="noStrike">
                <a:solidFill>
                  <a:schemeClr val="dk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7" name="Shape 107"/>
        <p:cNvGrpSpPr/>
        <p:nvPr/>
      </p:nvGrpSpPr>
      <p:grpSpPr>
        <a:xfrm>
          <a:off x="0" y="0"/>
          <a:ext cx="0" cy="0"/>
          <a:chOff x="0" y="0"/>
          <a:chExt cx="0" cy="0"/>
        </a:xfrm>
      </p:grpSpPr>
      <p:pic>
        <p:nvPicPr>
          <p:cNvPr descr="Droplets-HD-Content-R1d.png" id="108" name="Google Shape;108;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9" name="Google Shape;109;p14"/>
          <p:cNvSpPr txBox="1"/>
          <p:nvPr>
            <p:ph type="title"/>
          </p:nvPr>
        </p:nvSpPr>
        <p:spPr>
          <a:xfrm>
            <a:off x="913775" y="2138721"/>
            <a:ext cx="10364452" cy="2511835"/>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4"/>
          <p:cNvSpPr txBox="1"/>
          <p:nvPr>
            <p:ph idx="1" type="body"/>
          </p:nvPr>
        </p:nvSpPr>
        <p:spPr>
          <a:xfrm>
            <a:off x="913775" y="4662335"/>
            <a:ext cx="10364452" cy="114064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111" name="Google Shape;111;p14"/>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4"/>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4"/>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14" name="Shape 114"/>
        <p:cNvGrpSpPr/>
        <p:nvPr/>
      </p:nvGrpSpPr>
      <p:grpSpPr>
        <a:xfrm>
          <a:off x="0" y="0"/>
          <a:ext cx="0" cy="0"/>
          <a:chOff x="0" y="0"/>
          <a:chExt cx="0" cy="0"/>
        </a:xfrm>
      </p:grpSpPr>
      <p:pic>
        <p:nvPicPr>
          <p:cNvPr descr="Droplets-HD-Content-R1d.png" id="115" name="Google Shape;115;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6" name="Google Shape;116;p15"/>
          <p:cNvSpPr txBox="1"/>
          <p:nvPr>
            <p:ph type="title"/>
          </p:nvPr>
        </p:nvSpPr>
        <p:spPr>
          <a:xfrm>
            <a:off x="913774" y="609600"/>
            <a:ext cx="10364452" cy="160509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15"/>
          <p:cNvSpPr txBox="1"/>
          <p:nvPr>
            <p:ph idx="1" type="body"/>
          </p:nvPr>
        </p:nvSpPr>
        <p:spPr>
          <a:xfrm>
            <a:off x="913774" y="2367093"/>
            <a:ext cx="3298976"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8" name="Google Shape;118;p15"/>
          <p:cNvSpPr txBox="1"/>
          <p:nvPr>
            <p:ph idx="2" type="body"/>
          </p:nvPr>
        </p:nvSpPr>
        <p:spPr>
          <a:xfrm>
            <a:off x="913774" y="2943355"/>
            <a:ext cx="3298976"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9" name="Google Shape;119;p15"/>
          <p:cNvSpPr txBox="1"/>
          <p:nvPr>
            <p:ph idx="3" type="body"/>
          </p:nvPr>
        </p:nvSpPr>
        <p:spPr>
          <a:xfrm>
            <a:off x="4452389" y="2367093"/>
            <a:ext cx="3291521"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20" name="Google Shape;120;p15"/>
          <p:cNvSpPr txBox="1"/>
          <p:nvPr>
            <p:ph idx="4" type="body"/>
          </p:nvPr>
        </p:nvSpPr>
        <p:spPr>
          <a:xfrm>
            <a:off x="4441348" y="2943355"/>
            <a:ext cx="3303351"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21" name="Google Shape;121;p15"/>
          <p:cNvSpPr txBox="1"/>
          <p:nvPr>
            <p:ph idx="5" type="body"/>
          </p:nvPr>
        </p:nvSpPr>
        <p:spPr>
          <a:xfrm>
            <a:off x="7973298" y="2367093"/>
            <a:ext cx="3304928"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22" name="Google Shape;122;p15"/>
          <p:cNvSpPr txBox="1"/>
          <p:nvPr>
            <p:ph idx="6" type="body"/>
          </p:nvPr>
        </p:nvSpPr>
        <p:spPr>
          <a:xfrm>
            <a:off x="7973298" y="2943355"/>
            <a:ext cx="3304928"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23" name="Google Shape;123;p15"/>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5"/>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5"/>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26" name="Shape 126"/>
        <p:cNvGrpSpPr/>
        <p:nvPr/>
      </p:nvGrpSpPr>
      <p:grpSpPr>
        <a:xfrm>
          <a:off x="0" y="0"/>
          <a:ext cx="0" cy="0"/>
          <a:chOff x="0" y="0"/>
          <a:chExt cx="0" cy="0"/>
        </a:xfrm>
      </p:grpSpPr>
      <p:pic>
        <p:nvPicPr>
          <p:cNvPr descr="Droplets-HD-Content-R1d.png" id="127" name="Google Shape;127;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8" name="Google Shape;128;p16"/>
          <p:cNvSpPr txBox="1"/>
          <p:nvPr>
            <p:ph type="title"/>
          </p:nvPr>
        </p:nvSpPr>
        <p:spPr>
          <a:xfrm>
            <a:off x="913774" y="610772"/>
            <a:ext cx="10364452" cy="160392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6"/>
          <p:cNvSpPr txBox="1"/>
          <p:nvPr>
            <p:ph idx="1" type="body"/>
          </p:nvPr>
        </p:nvSpPr>
        <p:spPr>
          <a:xfrm>
            <a:off x="913774" y="4204820"/>
            <a:ext cx="3296409"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30" name="Google Shape;130;p16"/>
          <p:cNvSpPr/>
          <p:nvPr>
            <p:ph idx="2" type="pic"/>
          </p:nvPr>
        </p:nvSpPr>
        <p:spPr>
          <a:xfrm>
            <a:off x="913774" y="2367093"/>
            <a:ext cx="3296409" cy="1524000"/>
          </a:xfrm>
          <a:prstGeom prst="roundRect">
            <a:avLst>
              <a:gd fmla="val 9363" name="adj"/>
            </a:avLst>
          </a:prstGeom>
          <a:noFill/>
          <a:ln cap="sq" cmpd="sng" w="82550">
            <a:solidFill>
              <a:srgbClr val="CBD7E6"/>
            </a:solidFill>
            <a:prstDash val="solid"/>
            <a:miter lim="800000"/>
            <a:headEnd len="sm" w="sm" type="none"/>
            <a:tailEnd len="sm" w="sm" type="none"/>
          </a:ln>
        </p:spPr>
      </p:sp>
      <p:sp>
        <p:nvSpPr>
          <p:cNvPr id="131" name="Google Shape;131;p16"/>
          <p:cNvSpPr txBox="1"/>
          <p:nvPr>
            <p:ph idx="3" type="body"/>
          </p:nvPr>
        </p:nvSpPr>
        <p:spPr>
          <a:xfrm>
            <a:off x="913774" y="4781082"/>
            <a:ext cx="3296409" cy="101011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32" name="Google Shape;132;p16"/>
          <p:cNvSpPr txBox="1"/>
          <p:nvPr>
            <p:ph idx="4" type="body"/>
          </p:nvPr>
        </p:nvSpPr>
        <p:spPr>
          <a:xfrm>
            <a:off x="4442759" y="4204820"/>
            <a:ext cx="3301828"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33" name="Google Shape;133;p16"/>
          <p:cNvSpPr/>
          <p:nvPr>
            <p:ph idx="5" type="pic"/>
          </p:nvPr>
        </p:nvSpPr>
        <p:spPr>
          <a:xfrm>
            <a:off x="4441348" y="2367093"/>
            <a:ext cx="3303352" cy="1524000"/>
          </a:xfrm>
          <a:prstGeom prst="roundRect">
            <a:avLst>
              <a:gd fmla="val 8841" name="adj"/>
            </a:avLst>
          </a:prstGeom>
          <a:noFill/>
          <a:ln cap="sq" cmpd="sng" w="82550">
            <a:solidFill>
              <a:srgbClr val="CBD7E6"/>
            </a:solidFill>
            <a:prstDash val="solid"/>
            <a:miter lim="800000"/>
            <a:headEnd len="sm" w="sm" type="none"/>
            <a:tailEnd len="sm" w="sm" type="none"/>
          </a:ln>
        </p:spPr>
      </p:sp>
      <p:sp>
        <p:nvSpPr>
          <p:cNvPr id="134" name="Google Shape;134;p16"/>
          <p:cNvSpPr txBox="1"/>
          <p:nvPr>
            <p:ph idx="6" type="body"/>
          </p:nvPr>
        </p:nvSpPr>
        <p:spPr>
          <a:xfrm>
            <a:off x="4441348" y="4781080"/>
            <a:ext cx="3303352" cy="1010119"/>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35" name="Google Shape;135;p16"/>
          <p:cNvSpPr txBox="1"/>
          <p:nvPr>
            <p:ph idx="7" type="body"/>
          </p:nvPr>
        </p:nvSpPr>
        <p:spPr>
          <a:xfrm>
            <a:off x="7973298" y="4204820"/>
            <a:ext cx="3300681"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36" name="Google Shape;136;p16"/>
          <p:cNvSpPr/>
          <p:nvPr>
            <p:ph idx="8" type="pic"/>
          </p:nvPr>
        </p:nvSpPr>
        <p:spPr>
          <a:xfrm>
            <a:off x="7973298" y="2367093"/>
            <a:ext cx="3304928" cy="1524000"/>
          </a:xfrm>
          <a:prstGeom prst="roundRect">
            <a:avLst>
              <a:gd fmla="val 8841" name="adj"/>
            </a:avLst>
          </a:prstGeom>
          <a:noFill/>
          <a:ln cap="sq" cmpd="sng" w="82550">
            <a:solidFill>
              <a:srgbClr val="CBD7E6"/>
            </a:solidFill>
            <a:prstDash val="solid"/>
            <a:miter lim="800000"/>
            <a:headEnd len="sm" w="sm" type="none"/>
            <a:tailEnd len="sm" w="sm" type="none"/>
          </a:ln>
        </p:spPr>
      </p:sp>
      <p:sp>
        <p:nvSpPr>
          <p:cNvPr id="137" name="Google Shape;137;p16"/>
          <p:cNvSpPr txBox="1"/>
          <p:nvPr>
            <p:ph idx="9" type="body"/>
          </p:nvPr>
        </p:nvSpPr>
        <p:spPr>
          <a:xfrm>
            <a:off x="7973173" y="4781078"/>
            <a:ext cx="3305053" cy="101012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38" name="Google Shape;138;p16"/>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6"/>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6"/>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1" name="Shape 141"/>
        <p:cNvGrpSpPr/>
        <p:nvPr/>
      </p:nvGrpSpPr>
      <p:grpSpPr>
        <a:xfrm>
          <a:off x="0" y="0"/>
          <a:ext cx="0" cy="0"/>
          <a:chOff x="0" y="0"/>
          <a:chExt cx="0" cy="0"/>
        </a:xfrm>
      </p:grpSpPr>
      <p:pic>
        <p:nvPicPr>
          <p:cNvPr descr="Droplets-HD-Content-R1d.png" id="142" name="Google Shape;142;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3" name="Google Shape;143;p17"/>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17"/>
          <p:cNvSpPr txBox="1"/>
          <p:nvPr>
            <p:ph idx="1" type="body"/>
          </p:nvPr>
        </p:nvSpPr>
        <p:spPr>
          <a:xfrm rot="5400000">
            <a:off x="4383948" y="-1103080"/>
            <a:ext cx="3424107" cy="1036445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145" name="Google Shape;145;p17"/>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7"/>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7"/>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8" name="Shape 148"/>
        <p:cNvGrpSpPr/>
        <p:nvPr/>
      </p:nvGrpSpPr>
      <p:grpSpPr>
        <a:xfrm>
          <a:off x="0" y="0"/>
          <a:ext cx="0" cy="0"/>
          <a:chOff x="0" y="0"/>
          <a:chExt cx="0" cy="0"/>
        </a:xfrm>
      </p:grpSpPr>
      <p:pic>
        <p:nvPicPr>
          <p:cNvPr descr="Droplets-HD-Content-R1d.png" id="149" name="Google Shape;149;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0" name="Google Shape;150;p18"/>
          <p:cNvSpPr txBox="1"/>
          <p:nvPr>
            <p:ph type="title"/>
          </p:nvPr>
        </p:nvSpPr>
        <p:spPr>
          <a:xfrm rot="5400000">
            <a:off x="7410763" y="1923738"/>
            <a:ext cx="5181599" cy="25533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18"/>
          <p:cNvSpPr txBox="1"/>
          <p:nvPr>
            <p:ph idx="1" type="body"/>
          </p:nvPr>
        </p:nvSpPr>
        <p:spPr>
          <a:xfrm rot="5400000">
            <a:off x="2152338" y="-628962"/>
            <a:ext cx="5181599" cy="765872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152" name="Google Shape;152;p18"/>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8"/>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18"/>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AC7EE"/>
            </a:gs>
            <a:gs pos="100000">
              <a:srgbClr val="87ABDA"/>
            </a:gs>
          </a:gsLst>
          <a:lin ang="5400000" scaled="0"/>
        </a:gradFill>
      </p:bgPr>
    </p:bg>
    <p:spTree>
      <p:nvGrpSpPr>
        <p:cNvPr id="9" name="Shape 9"/>
        <p:cNvGrpSpPr/>
        <p:nvPr/>
      </p:nvGrpSpPr>
      <p:grpSpPr>
        <a:xfrm>
          <a:off x="0" y="0"/>
          <a:ext cx="0" cy="0"/>
          <a:chOff x="0" y="0"/>
          <a:chExt cx="0" cy="0"/>
        </a:xfrm>
      </p:grpSpPr>
      <p:pic>
        <p:nvPicPr>
          <p:cNvPr descr="\\DROBO-FS\QuickDrops\JB\PPTX NG\Droplets\LightingOverlay.png" id="10" name="Google Shape;10;p1"/>
          <p:cNvPicPr preferRelativeResize="0"/>
          <p:nvPr/>
        </p:nvPicPr>
        <p:blipFill rotWithShape="1">
          <a:blip r:embed="rId1">
            <a:alphaModFix amt="80000"/>
          </a:blip>
          <a:srcRect b="0" l="0" r="0" t="0"/>
          <a:stretch/>
        </p:blipFill>
        <p:spPr>
          <a:xfrm>
            <a:off x="0" y="0"/>
            <a:ext cx="12192003" cy="6858001"/>
          </a:xfrm>
          <a:prstGeom prst="rect">
            <a:avLst/>
          </a:prstGeom>
          <a:noFill/>
          <a:ln>
            <a:noFill/>
          </a:ln>
        </p:spPr>
      </p:pic>
      <p:sp>
        <p:nvSpPr>
          <p:cNvPr id="11" name="Google Shape;11;p1"/>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3600"/>
              <a:buFont typeface="Twentieth Century"/>
              <a:buNone/>
              <a:defRPr b="0" i="0" sz="360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913775" y="2367093"/>
            <a:ext cx="10364452" cy="3424107"/>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dk1"/>
              </a:buClr>
              <a:buSzPts val="2000"/>
              <a:buFont typeface="Arial"/>
              <a:buChar char="•"/>
              <a:defRPr b="0" i="0" sz="20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120000"/>
              </a:lnSpc>
              <a:spcBef>
                <a:spcPts val="500"/>
              </a:spcBef>
              <a:spcAft>
                <a:spcPts val="0"/>
              </a:spcAft>
              <a:buClr>
                <a:schemeClr val="dk1"/>
              </a:buClr>
              <a:buSzPts val="1800"/>
              <a:buFont typeface="Arial"/>
              <a:buChar char="•"/>
              <a:defRPr b="0" i="0" sz="1800" u="none" cap="none" strike="noStrike">
                <a:solidFill>
                  <a:schemeClr val="dk1"/>
                </a:solidFill>
                <a:latin typeface="Twentieth Century"/>
                <a:ea typeface="Twentieth Century"/>
                <a:cs typeface="Twentieth Century"/>
                <a:sym typeface="Twentieth Century"/>
              </a:defRPr>
            </a:lvl2pPr>
            <a:lvl3pPr indent="-330200" lvl="2" marL="1371600" marR="0" rtl="0" algn="l">
              <a:lnSpc>
                <a:spcPct val="120000"/>
              </a:lnSpc>
              <a:spcBef>
                <a:spcPts val="500"/>
              </a:spcBef>
              <a:spcAft>
                <a:spcPts val="0"/>
              </a:spcAft>
              <a:buClr>
                <a:schemeClr val="dk1"/>
              </a:buClr>
              <a:buSzPts val="1600"/>
              <a:buFont typeface="Arial"/>
              <a:buChar char="•"/>
              <a:defRPr b="0" i="0" sz="16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1"/>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1"/>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5" name="Google Shape;15;p1"/>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1pPr>
            <a:lvl2pPr indent="0" lvl="1"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2pPr>
            <a:lvl3pPr indent="0" lvl="2"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3pPr>
            <a:lvl4pPr indent="0" lvl="3"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4pPr>
            <a:lvl5pPr indent="0" lvl="4"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5pPr>
            <a:lvl6pPr indent="0" lvl="5"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6pPr>
            <a:lvl7pPr indent="0" lvl="6"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7pPr>
            <a:lvl8pPr indent="0" lvl="7"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8pPr>
            <a:lvl9pPr indent="0" lvl="8"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unveilingrizal.weebly.com/why-rizal.html" TargetMode="External"/><Relationship Id="rId4" Type="http://schemas.openxmlformats.org/officeDocument/2006/relationships/hyperlink" Target="https://www.baguioheraldexpressonline.com/govt-not-remiss-in-recognizing-rizals-herois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9"/>
          <p:cNvSpPr txBox="1"/>
          <p:nvPr>
            <p:ph type="title"/>
          </p:nvPr>
        </p:nvSpPr>
        <p:spPr>
          <a:xfrm>
            <a:off x="913774" y="1219200"/>
            <a:ext cx="5328981" cy="2257778"/>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000"/>
              <a:buFont typeface="Twentieth Century"/>
              <a:buNone/>
            </a:pPr>
            <a:r>
              <a:rPr b="1" lang="en-US" sz="4000"/>
              <a:t>TITLE: REPUBLIC ACT NO. 1425: THE RIZAL LAW</a:t>
            </a:r>
            <a:br>
              <a:rPr b="1" lang="en-US" sz="4000"/>
            </a:br>
            <a:endParaRPr b="1" sz="4000"/>
          </a:p>
        </p:txBody>
      </p:sp>
      <p:sp>
        <p:nvSpPr>
          <p:cNvPr id="160" name="Google Shape;160;p19"/>
          <p:cNvSpPr txBox="1"/>
          <p:nvPr>
            <p:ph idx="1" type="body"/>
          </p:nvPr>
        </p:nvSpPr>
        <p:spPr>
          <a:xfrm>
            <a:off x="6692243" y="609600"/>
            <a:ext cx="4585982" cy="5181599"/>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
        <p:nvSpPr>
          <p:cNvPr id="161" name="Google Shape;161;p19"/>
          <p:cNvSpPr txBox="1"/>
          <p:nvPr>
            <p:ph idx="2" type="body"/>
          </p:nvPr>
        </p:nvSpPr>
        <p:spPr>
          <a:xfrm>
            <a:off x="553156" y="4515556"/>
            <a:ext cx="5508977" cy="1275643"/>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SzPts val="2800"/>
              <a:buNone/>
            </a:pPr>
            <a:r>
              <a:rPr lang="en-US" sz="2800"/>
              <a:t>DR. RINA RAMOS-PALMIANO LPT, JD</a:t>
            </a:r>
            <a:endParaRPr sz="2800"/>
          </a:p>
        </p:txBody>
      </p:sp>
      <p:pic>
        <p:nvPicPr>
          <p:cNvPr id="162" name="Google Shape;162;p19"/>
          <p:cNvPicPr preferRelativeResize="0"/>
          <p:nvPr/>
        </p:nvPicPr>
        <p:blipFill rotWithShape="1">
          <a:blip r:embed="rId3">
            <a:alphaModFix/>
          </a:blip>
          <a:srcRect b="0" l="0" r="0" t="0"/>
          <a:stretch/>
        </p:blipFill>
        <p:spPr>
          <a:xfrm>
            <a:off x="6692243" y="688622"/>
            <a:ext cx="4585982" cy="49332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b="1" lang="en-US"/>
              <a:t>THE OBJECTIVES OF STUDYING JOSÉ RIZAL</a:t>
            </a:r>
            <a:endParaRPr b="1"/>
          </a:p>
        </p:txBody>
      </p:sp>
      <p:graphicFrame>
        <p:nvGraphicFramePr>
          <p:cNvPr id="168" name="Google Shape;168;p20"/>
          <p:cNvGraphicFramePr/>
          <p:nvPr/>
        </p:nvGraphicFramePr>
        <p:xfrm>
          <a:off x="914400" y="2366963"/>
          <a:ext cx="3000000" cy="3000000"/>
        </p:xfrm>
        <a:graphic>
          <a:graphicData uri="http://schemas.openxmlformats.org/drawingml/2006/table">
            <a:tbl>
              <a:tblPr bandRow="1" firstRow="1">
                <a:noFill/>
                <a:tableStyleId>{60CB97B1-1977-42D9-90AB-B3804BBD066F}</a:tableStyleId>
              </a:tblPr>
              <a:tblGrid>
                <a:gridCol w="3454400"/>
                <a:gridCol w="3454400"/>
                <a:gridCol w="3454400"/>
              </a:tblGrid>
              <a:tr h="3333925">
                <a:tc>
                  <a:txBody>
                    <a:bodyPr/>
                    <a:lstStyle/>
                    <a:p>
                      <a:pPr indent="0" lvl="0" marL="0" marR="0" rtl="0" algn="l">
                        <a:spcBef>
                          <a:spcPts val="0"/>
                        </a:spcBef>
                        <a:spcAft>
                          <a:spcPts val="0"/>
                        </a:spcAft>
                        <a:buNone/>
                      </a:pPr>
                      <a:r>
                        <a:rPr b="1" lang="en-US" sz="2400" u="none" cap="none" strike="noStrike"/>
                        <a:t>1. Promote Patriotism and Nationalism:</a:t>
                      </a:r>
                      <a:endParaRPr sz="2400"/>
                    </a:p>
                    <a:p>
                      <a:pPr indent="0" lvl="0" marL="0" marR="0" rtl="0" algn="l">
                        <a:spcBef>
                          <a:spcPts val="0"/>
                        </a:spcBef>
                        <a:spcAft>
                          <a:spcPts val="0"/>
                        </a:spcAft>
                        <a:buNone/>
                      </a:pPr>
                      <a:r>
                        <a:rPr lang="en-US" sz="2400"/>
                        <a:t>Inspire love for the country by learning about Rizal's life, his dedication to the Filipino cause, and his ultimate sacrifice for independence.</a:t>
                      </a:r>
                      <a:endParaRPr/>
                    </a:p>
                    <a:p>
                      <a:pPr indent="0" lvl="0" marL="0" marR="0" rtl="0" algn="l">
                        <a:spcBef>
                          <a:spcPts val="0"/>
                        </a:spcBef>
                        <a:spcAft>
                          <a:spcPts val="0"/>
                        </a:spcAft>
                        <a:buNone/>
                      </a:pPr>
                      <a:r>
                        <a:t/>
                      </a:r>
                      <a:endParaRPr sz="2400"/>
                    </a:p>
                  </a:txBody>
                  <a:tcPr marT="45725" marB="45725" marR="91450" marL="91450"/>
                </a:tc>
                <a:tc>
                  <a:txBody>
                    <a:bodyPr/>
                    <a:lstStyle/>
                    <a:p>
                      <a:pPr indent="0" lvl="0" marL="0" marR="0" rtl="0" algn="l">
                        <a:spcBef>
                          <a:spcPts val="0"/>
                        </a:spcBef>
                        <a:spcAft>
                          <a:spcPts val="0"/>
                        </a:spcAft>
                        <a:buNone/>
                      </a:pPr>
                      <a:r>
                        <a:rPr b="1" lang="en-US" sz="2400"/>
                        <a:t>2. Foster a Sense of Identity:</a:t>
                      </a:r>
                      <a:endParaRPr sz="2400"/>
                    </a:p>
                    <a:p>
                      <a:pPr indent="-152400" lvl="0" marL="0" marR="0" rtl="0" algn="l">
                        <a:spcBef>
                          <a:spcPts val="0"/>
                        </a:spcBef>
                        <a:spcAft>
                          <a:spcPts val="0"/>
                        </a:spcAft>
                        <a:buClr>
                          <a:schemeClr val="dk1"/>
                        </a:buClr>
                        <a:buSzPts val="2400"/>
                        <a:buFont typeface="Arial"/>
                        <a:buChar char="•"/>
                      </a:pPr>
                      <a:r>
                        <a:rPr lang="en-US" sz="2400"/>
                        <a:t>Deepen understanding of the Filipino identity and heritage through Rizal's works that reflect the historical and cultural realities of the Philippines during his time.</a:t>
                      </a:r>
                      <a:endParaRPr/>
                    </a:p>
                    <a:p>
                      <a:pPr indent="0" lvl="0" marL="0" marR="0" rtl="0" algn="l">
                        <a:spcBef>
                          <a:spcPts val="0"/>
                        </a:spcBef>
                        <a:spcAft>
                          <a:spcPts val="0"/>
                        </a:spcAft>
                        <a:buNone/>
                      </a:pPr>
                      <a:r>
                        <a:t/>
                      </a:r>
                      <a:endParaRPr sz="2400"/>
                    </a:p>
                  </a:txBody>
                  <a:tcPr marT="45725" marB="45725" marR="91450" marL="91450"/>
                </a:tc>
                <a:tc>
                  <a:txBody>
                    <a:bodyPr/>
                    <a:lstStyle/>
                    <a:p>
                      <a:pPr indent="0" lvl="0" marL="0" marR="0" rtl="0" algn="l">
                        <a:spcBef>
                          <a:spcPts val="0"/>
                        </a:spcBef>
                        <a:spcAft>
                          <a:spcPts val="0"/>
                        </a:spcAft>
                        <a:buNone/>
                      </a:pPr>
                      <a:r>
                        <a:rPr lang="en-US" sz="2400"/>
                        <a:t>3. I</a:t>
                      </a:r>
                      <a:r>
                        <a:rPr b="1" lang="en-US" sz="2400"/>
                        <a:t>nculcate Moral and Ethical Values:</a:t>
                      </a:r>
                      <a:endParaRPr sz="2400"/>
                    </a:p>
                    <a:p>
                      <a:pPr indent="0" lvl="0" marL="0" marR="0" rtl="0" algn="l">
                        <a:spcBef>
                          <a:spcPts val="0"/>
                        </a:spcBef>
                        <a:spcAft>
                          <a:spcPts val="0"/>
                        </a:spcAft>
                        <a:buNone/>
                      </a:pPr>
                      <a:r>
                        <a:rPr lang="en-US" sz="2400"/>
                        <a:t>Learn from Rizal's character, his values, and principles such as integrity, self-discipline, and the importance of education.</a:t>
                      </a:r>
                      <a:endParaRPr/>
                    </a:p>
                    <a:p>
                      <a:pPr indent="0" lvl="0" marL="0" marR="0" rtl="0" algn="l">
                        <a:spcBef>
                          <a:spcPts val="0"/>
                        </a:spcBef>
                        <a:spcAft>
                          <a:spcPts val="0"/>
                        </a:spcAft>
                        <a:buNone/>
                      </a:pPr>
                      <a:r>
                        <a:t/>
                      </a:r>
                      <a:endParaRPr sz="2400"/>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913775" y="618518"/>
            <a:ext cx="10364451" cy="10832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b="1" lang="en-US"/>
              <a:t>THE OBJECTIVES OF STUDYING JOSÉ RIZAL</a:t>
            </a:r>
            <a:endParaRPr/>
          </a:p>
        </p:txBody>
      </p:sp>
      <p:graphicFrame>
        <p:nvGraphicFramePr>
          <p:cNvPr id="174" name="Google Shape;174;p21"/>
          <p:cNvGraphicFramePr/>
          <p:nvPr/>
        </p:nvGraphicFramePr>
        <p:xfrm>
          <a:off x="1143000" y="1955801"/>
          <a:ext cx="3000000" cy="3000000"/>
        </p:xfrm>
        <a:graphic>
          <a:graphicData uri="http://schemas.openxmlformats.org/drawingml/2006/table">
            <a:tbl>
              <a:tblPr bandRow="1" firstRow="1">
                <a:noFill/>
                <a:tableStyleId>{60CB97B1-1977-42D9-90AB-B3804BBD066F}</a:tableStyleId>
              </a:tblPr>
              <a:tblGrid>
                <a:gridCol w="3378200"/>
                <a:gridCol w="3378200"/>
                <a:gridCol w="3378200"/>
              </a:tblGrid>
              <a:tr h="4660900">
                <a:tc>
                  <a:txBody>
                    <a:bodyPr/>
                    <a:lstStyle/>
                    <a:p>
                      <a:pPr indent="0" lvl="0" marL="0" marR="0" rtl="0" algn="l">
                        <a:spcBef>
                          <a:spcPts val="0"/>
                        </a:spcBef>
                        <a:spcAft>
                          <a:spcPts val="0"/>
                        </a:spcAft>
                        <a:buNone/>
                      </a:pPr>
                      <a:r>
                        <a:rPr lang="en-US" sz="2400"/>
                        <a:t>4. </a:t>
                      </a:r>
                      <a:r>
                        <a:rPr b="1" lang="en-US" sz="2400"/>
                        <a:t>Develop Critical Thinking:</a:t>
                      </a:r>
                      <a:endParaRPr sz="2400"/>
                    </a:p>
                    <a:p>
                      <a:pPr indent="0" lvl="0" marL="0" marR="0" rtl="0" algn="l">
                        <a:spcBef>
                          <a:spcPts val="0"/>
                        </a:spcBef>
                        <a:spcAft>
                          <a:spcPts val="0"/>
                        </a:spcAft>
                        <a:buNone/>
                      </a:pPr>
                      <a:r>
                        <a:rPr lang="en-US" sz="2400"/>
                        <a:t>Encourage critical analysis of societal issues by reflecting on Rizal's writings, particularly </a:t>
                      </a:r>
                      <a:r>
                        <a:rPr i="1" lang="en-US" sz="2400"/>
                        <a:t>Noli Me Tangere</a:t>
                      </a:r>
                      <a:r>
                        <a:rPr lang="en-US" sz="2400"/>
                        <a:t> and </a:t>
                      </a:r>
                      <a:r>
                        <a:rPr i="1" lang="en-US" sz="2400"/>
                        <a:t>El Filibusterismo</a:t>
                      </a:r>
                      <a:r>
                        <a:rPr lang="en-US" sz="2400"/>
                        <a:t>, which expose social injustices and advocate for reforms.</a:t>
                      </a:r>
                      <a:endParaRPr/>
                    </a:p>
                    <a:p>
                      <a:pPr indent="0" lvl="0" marL="0" marR="0" rtl="0" algn="l">
                        <a:spcBef>
                          <a:spcPts val="0"/>
                        </a:spcBef>
                        <a:spcAft>
                          <a:spcPts val="0"/>
                        </a:spcAft>
                        <a:buNone/>
                      </a:pPr>
                      <a:r>
                        <a:t/>
                      </a:r>
                      <a:endParaRPr sz="2400"/>
                    </a:p>
                  </a:txBody>
                  <a:tcPr marT="45725" marB="45725" marR="91450" marL="91450"/>
                </a:tc>
                <a:tc>
                  <a:txBody>
                    <a:bodyPr/>
                    <a:lstStyle/>
                    <a:p>
                      <a:pPr indent="0" lvl="0" marL="0" marR="0" rtl="0" algn="l">
                        <a:spcBef>
                          <a:spcPts val="0"/>
                        </a:spcBef>
                        <a:spcAft>
                          <a:spcPts val="0"/>
                        </a:spcAft>
                        <a:buNone/>
                      </a:pPr>
                      <a:r>
                        <a:rPr lang="en-US" sz="2400"/>
                        <a:t>5. </a:t>
                      </a:r>
                      <a:r>
                        <a:rPr b="1" lang="en-US" sz="2400"/>
                        <a:t>Understand Historical Context:</a:t>
                      </a:r>
                      <a:endParaRPr sz="2400"/>
                    </a:p>
                    <a:p>
                      <a:pPr indent="0" lvl="0" marL="0" marR="0" rtl="0" algn="l">
                        <a:spcBef>
                          <a:spcPts val="0"/>
                        </a:spcBef>
                        <a:spcAft>
                          <a:spcPts val="0"/>
                        </a:spcAft>
                        <a:buNone/>
                      </a:pPr>
                      <a:r>
                        <a:rPr lang="en-US" sz="2400"/>
                        <a:t>Gain insight into the historical events that shaped the Philippines and understand the role of Rizal in the country's struggle for independence.</a:t>
                      </a:r>
                      <a:endParaRPr/>
                    </a:p>
                    <a:p>
                      <a:pPr indent="0" lvl="0" marL="0" marR="0" rtl="0" algn="l">
                        <a:spcBef>
                          <a:spcPts val="0"/>
                        </a:spcBef>
                        <a:spcAft>
                          <a:spcPts val="0"/>
                        </a:spcAft>
                        <a:buNone/>
                      </a:pPr>
                      <a:r>
                        <a:t/>
                      </a:r>
                      <a:endParaRPr sz="2400"/>
                    </a:p>
                  </a:txBody>
                  <a:tcPr marT="45725" marB="45725" marR="91450" marL="91450"/>
                </a:tc>
                <a:tc>
                  <a:txBody>
                    <a:bodyPr/>
                    <a:lstStyle/>
                    <a:p>
                      <a:pPr indent="0" lvl="0" marL="0" marR="0" rtl="0" algn="l">
                        <a:spcBef>
                          <a:spcPts val="0"/>
                        </a:spcBef>
                        <a:spcAft>
                          <a:spcPts val="0"/>
                        </a:spcAft>
                        <a:buNone/>
                      </a:pPr>
                      <a:r>
                        <a:rPr lang="en-US" sz="2400"/>
                        <a:t>6. </a:t>
                      </a:r>
                      <a:r>
                        <a:rPr b="1" lang="en-US" sz="2400"/>
                        <a:t>Empower the Youth:</a:t>
                      </a:r>
                      <a:endParaRPr sz="2400"/>
                    </a:p>
                    <a:p>
                      <a:pPr indent="0" lvl="0" marL="0" marR="0" rtl="0" algn="l">
                        <a:spcBef>
                          <a:spcPts val="0"/>
                        </a:spcBef>
                        <a:spcAft>
                          <a:spcPts val="0"/>
                        </a:spcAft>
                        <a:buNone/>
                      </a:pPr>
                      <a:r>
                        <a:rPr lang="en-US" sz="2400"/>
                        <a:t>Equip students with the knowledge and inspiration to become proactive and responsible citizens, contributing to nation-building and societal progress.</a:t>
                      </a:r>
                      <a:endParaRPr/>
                    </a:p>
                    <a:p>
                      <a:pPr indent="0" lvl="0" marL="0" marR="0" rtl="0" algn="l">
                        <a:spcBef>
                          <a:spcPts val="0"/>
                        </a:spcBef>
                        <a:spcAft>
                          <a:spcPts val="0"/>
                        </a:spcAft>
                        <a:buNone/>
                      </a:pPr>
                      <a:r>
                        <a:t/>
                      </a:r>
                      <a:endParaRPr sz="2400"/>
                    </a:p>
                  </a:txBody>
                  <a:tcPr marT="45725" marB="45725" marR="91450" marL="9145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Twentieth Century"/>
              <a:buNone/>
            </a:pPr>
            <a:r>
              <a:rPr b="1" lang="en-US" sz="5400"/>
              <a:t>WHAT IS RA 1425?</a:t>
            </a:r>
            <a:endParaRPr b="1" sz="5400"/>
          </a:p>
        </p:txBody>
      </p:sp>
      <p:sp>
        <p:nvSpPr>
          <p:cNvPr id="180" name="Google Shape;180;p22"/>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fontScale="92500"/>
          </a:bodyPr>
          <a:lstStyle/>
          <a:p>
            <a:pPr indent="-229076" lvl="0" marL="228600" rtl="0" algn="l">
              <a:lnSpc>
                <a:spcPct val="120000"/>
              </a:lnSpc>
              <a:spcBef>
                <a:spcPts val="0"/>
              </a:spcBef>
              <a:spcAft>
                <a:spcPts val="0"/>
              </a:spcAft>
              <a:buSzPct val="100000"/>
              <a:buChar char="•"/>
            </a:pPr>
            <a:r>
              <a:rPr b="1" lang="en-US" sz="3900"/>
              <a:t>I. LESSON I</a:t>
            </a:r>
            <a:endParaRPr/>
          </a:p>
          <a:p>
            <a:pPr indent="-228600" lvl="0" marL="228600" rtl="0" algn="l">
              <a:lnSpc>
                <a:spcPct val="120000"/>
              </a:lnSpc>
              <a:spcBef>
                <a:spcPts val="1000"/>
              </a:spcBef>
              <a:spcAft>
                <a:spcPts val="0"/>
              </a:spcAft>
              <a:buSzPct val="100000"/>
              <a:buChar char="•"/>
            </a:pPr>
            <a:r>
              <a:rPr lang="en-US" sz="3200"/>
              <a:t>REPUBLIC ACT NO. 1425, COMMONLY KNOWN AS THE RIZAL LAW, MANDATES THE STUDY OF JOSÉ RIZAL'S LIFE, WORKS, AND WRITINGS, PARTICULARLY HIS NOVELS </a:t>
            </a:r>
            <a:r>
              <a:rPr i="1" lang="en-US" sz="3200"/>
              <a:t>NOLI ME TANGERE</a:t>
            </a:r>
            <a:r>
              <a:rPr lang="en-US" sz="3200"/>
              <a:t> AND </a:t>
            </a:r>
            <a:r>
              <a:rPr i="1" lang="en-US" sz="3200"/>
              <a:t>EL FILIBUSTERISMO</a:t>
            </a:r>
            <a:r>
              <a:rPr lang="en-US" sz="3200"/>
              <a:t>, IN ALL SCHOOLS IN THE PHILIPPINES.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imes New Roman"/>
              <a:buNone/>
            </a:pPr>
            <a:r>
              <a:rPr b="1" lang="en-US">
                <a:latin typeface="Times New Roman"/>
                <a:ea typeface="Times New Roman"/>
                <a:cs typeface="Times New Roman"/>
                <a:sym typeface="Times New Roman"/>
              </a:rPr>
              <a:t>HISTORICAL CONTEXT OF REPUBLIC ACT 1425 (RIZAL LAW)</a:t>
            </a:r>
            <a:endParaRPr/>
          </a:p>
        </p:txBody>
      </p:sp>
      <p:sp>
        <p:nvSpPr>
          <p:cNvPr id="186" name="Google Shape;186;p23"/>
          <p:cNvSpPr txBox="1"/>
          <p:nvPr>
            <p:ph idx="1" type="body"/>
          </p:nvPr>
        </p:nvSpPr>
        <p:spPr>
          <a:xfrm>
            <a:off x="913774" y="2108200"/>
            <a:ext cx="10363826" cy="3682999"/>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SzPts val="1600"/>
              <a:buNone/>
            </a:pPr>
            <a:r>
              <a:t/>
            </a:r>
            <a:endParaRPr sz="1600">
              <a:latin typeface="Calibri"/>
              <a:ea typeface="Calibri"/>
              <a:cs typeface="Calibri"/>
              <a:sym typeface="Calibri"/>
            </a:endParaRPr>
          </a:p>
          <a:p>
            <a:pPr indent="-342900" lvl="0" marL="342900" marR="0" rtl="0" algn="l">
              <a:lnSpc>
                <a:spcPct val="107000"/>
              </a:lnSpc>
              <a:spcBef>
                <a:spcPts val="800"/>
              </a:spcBef>
              <a:spcAft>
                <a:spcPts val="0"/>
              </a:spcAft>
              <a:buSzPts val="2000"/>
              <a:buFont typeface="Twentieth Century"/>
              <a:buAutoNum type="arabicPeriod"/>
            </a:pPr>
            <a:r>
              <a:rPr b="1" lang="en-US">
                <a:latin typeface="Times New Roman"/>
                <a:ea typeface="Times New Roman"/>
                <a:cs typeface="Times New Roman"/>
                <a:sym typeface="Times New Roman"/>
              </a:rPr>
              <a:t>POST-WORLD WAR II PHILIPPINES (1950S)</a:t>
            </a:r>
            <a:endParaRPr sz="1800">
              <a:latin typeface="Calibri"/>
              <a:ea typeface="Calibri"/>
              <a:cs typeface="Calibri"/>
              <a:sym typeface="Calibri"/>
            </a:endParaRPr>
          </a:p>
          <a:p>
            <a:pPr indent="-285750" lvl="1" marL="742950" marR="0" rtl="0" algn="l">
              <a:lnSpc>
                <a:spcPct val="107000"/>
              </a:lnSpc>
              <a:spcBef>
                <a:spcPts val="800"/>
              </a:spcBef>
              <a:spcAft>
                <a:spcPts val="0"/>
              </a:spcAft>
              <a:buSzPts val="1000"/>
              <a:buFont typeface="Courier New"/>
              <a:buChar char="o"/>
            </a:pPr>
            <a:r>
              <a:rPr lang="en-US">
                <a:latin typeface="Times New Roman"/>
                <a:ea typeface="Times New Roman"/>
                <a:cs typeface="Times New Roman"/>
                <a:sym typeface="Times New Roman"/>
              </a:rPr>
              <a:t>THE PHILIPPINES HAD JUST REGAINED INDEPENDENCE (1946) AFTER THE JAPANESE OCCUPATION AND AMERICAN COLONIAL PERIOD.</a:t>
            </a:r>
            <a:endParaRPr sz="1600">
              <a:latin typeface="Calibri"/>
              <a:ea typeface="Calibri"/>
              <a:cs typeface="Calibri"/>
              <a:sym typeface="Calibri"/>
            </a:endParaRPr>
          </a:p>
          <a:p>
            <a:pPr indent="-285750" lvl="1" marL="742950" marR="0" rtl="0" algn="l">
              <a:lnSpc>
                <a:spcPct val="107000"/>
              </a:lnSpc>
              <a:spcBef>
                <a:spcPts val="800"/>
              </a:spcBef>
              <a:spcAft>
                <a:spcPts val="0"/>
              </a:spcAft>
              <a:buSzPts val="1000"/>
              <a:buFont typeface="Courier New"/>
              <a:buChar char="o"/>
            </a:pPr>
            <a:r>
              <a:rPr lang="en-US">
                <a:latin typeface="Times New Roman"/>
                <a:ea typeface="Times New Roman"/>
                <a:cs typeface="Times New Roman"/>
                <a:sym typeface="Times New Roman"/>
              </a:rPr>
              <a:t>NATION-BUILDING AND STRENGTHENING FILIPINO IDENTITY WERE URGENT TASKS.</a:t>
            </a:r>
            <a:endParaRPr sz="1600">
              <a:latin typeface="Calibri"/>
              <a:ea typeface="Calibri"/>
              <a:cs typeface="Calibri"/>
              <a:sym typeface="Calibri"/>
            </a:endParaRPr>
          </a:p>
          <a:p>
            <a:pPr indent="-342900" lvl="0" marL="342900" marR="0" rtl="0" algn="l">
              <a:lnSpc>
                <a:spcPct val="107000"/>
              </a:lnSpc>
              <a:spcBef>
                <a:spcPts val="800"/>
              </a:spcBef>
              <a:spcAft>
                <a:spcPts val="0"/>
              </a:spcAft>
              <a:buSzPts val="2000"/>
              <a:buFont typeface="Twentieth Century"/>
              <a:buAutoNum type="arabicPeriod"/>
            </a:pPr>
            <a:r>
              <a:rPr b="1" lang="en-US">
                <a:latin typeface="Times New Roman"/>
                <a:ea typeface="Times New Roman"/>
                <a:cs typeface="Times New Roman"/>
                <a:sym typeface="Times New Roman"/>
              </a:rPr>
              <a:t>CONCERNS ABOUT COLONIAL MENTALITY</a:t>
            </a:r>
            <a:endParaRPr sz="1800">
              <a:latin typeface="Calibri"/>
              <a:ea typeface="Calibri"/>
              <a:cs typeface="Calibri"/>
              <a:sym typeface="Calibri"/>
            </a:endParaRPr>
          </a:p>
          <a:p>
            <a:pPr indent="-285750" lvl="1" marL="742950" marR="0" rtl="0" algn="l">
              <a:lnSpc>
                <a:spcPct val="107000"/>
              </a:lnSpc>
              <a:spcBef>
                <a:spcPts val="800"/>
              </a:spcBef>
              <a:spcAft>
                <a:spcPts val="0"/>
              </a:spcAft>
              <a:buSzPts val="1000"/>
              <a:buFont typeface="Courier New"/>
              <a:buChar char="o"/>
            </a:pPr>
            <a:r>
              <a:rPr lang="en-US">
                <a:latin typeface="Times New Roman"/>
                <a:ea typeface="Times New Roman"/>
                <a:cs typeface="Times New Roman"/>
                <a:sym typeface="Times New Roman"/>
              </a:rPr>
              <a:t>MANY FILIPINOS STILL ADMIRED FOREIGN CULTURE MORE THAN THEIR OWN.</a:t>
            </a:r>
            <a:endParaRPr sz="1600">
              <a:latin typeface="Calibri"/>
              <a:ea typeface="Calibri"/>
              <a:cs typeface="Calibri"/>
              <a:sym typeface="Calibri"/>
            </a:endParaRPr>
          </a:p>
          <a:p>
            <a:pPr indent="-285750" lvl="1" marL="742950" marR="0" rtl="0" algn="l">
              <a:lnSpc>
                <a:spcPct val="107000"/>
              </a:lnSpc>
              <a:spcBef>
                <a:spcPts val="800"/>
              </a:spcBef>
              <a:spcAft>
                <a:spcPts val="0"/>
              </a:spcAft>
              <a:buSzPts val="1000"/>
              <a:buFont typeface="Courier New"/>
              <a:buChar char="o"/>
            </a:pPr>
            <a:r>
              <a:rPr lang="en-US">
                <a:latin typeface="Times New Roman"/>
                <a:ea typeface="Times New Roman"/>
                <a:cs typeface="Times New Roman"/>
                <a:sym typeface="Times New Roman"/>
              </a:rPr>
              <a:t>LAWMAKERS WANTED TO PROMOTE NATIONALISM AND PATRIOTISM BY GOING BACK TO THE LIFE AND WORKS OF JOSÉ RIZAL, THE NATIONAL HERO.</a:t>
            </a:r>
            <a:endParaRPr sz="1600">
              <a:latin typeface="Calibri"/>
              <a:ea typeface="Calibri"/>
              <a:cs typeface="Calibri"/>
              <a:sym typeface="Calibri"/>
            </a:endParaRPr>
          </a:p>
          <a:p>
            <a:pPr indent="-101600" lvl="0" marL="228600" rtl="0" algn="l">
              <a:lnSpc>
                <a:spcPct val="120000"/>
              </a:lnSpc>
              <a:spcBef>
                <a:spcPts val="1800"/>
              </a:spcBef>
              <a:spcAft>
                <a:spcPts val="0"/>
              </a:spcAft>
              <a:buSzPts val="2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type="title"/>
          </p:nvPr>
        </p:nvSpPr>
        <p:spPr>
          <a:xfrm>
            <a:off x="913775" y="618517"/>
            <a:ext cx="10364451" cy="6641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t/>
            </a:r>
            <a:endParaRPr/>
          </a:p>
        </p:txBody>
      </p:sp>
      <p:sp>
        <p:nvSpPr>
          <p:cNvPr id="192" name="Google Shape;192;p24"/>
          <p:cNvSpPr txBox="1"/>
          <p:nvPr>
            <p:ph idx="1" type="body"/>
          </p:nvPr>
        </p:nvSpPr>
        <p:spPr>
          <a:xfrm>
            <a:off x="913774" y="1409700"/>
            <a:ext cx="10363826" cy="4381499"/>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b="1" lang="en-US"/>
              <a:t>3. RIZAL’S ROLE IN NATIONAL CONSCIOUSNESS</a:t>
            </a:r>
            <a:endParaRPr sz="1800"/>
          </a:p>
          <a:p>
            <a:pPr indent="-228600" lvl="1" marL="685800" rtl="0" algn="l">
              <a:lnSpc>
                <a:spcPct val="120000"/>
              </a:lnSpc>
              <a:spcBef>
                <a:spcPts val="500"/>
              </a:spcBef>
              <a:spcAft>
                <a:spcPts val="0"/>
              </a:spcAft>
              <a:buSzPts val="1800"/>
              <a:buChar char="•"/>
            </a:pPr>
            <a:r>
              <a:rPr lang="en-US"/>
              <a:t>RIZAL’S NOVELS (</a:t>
            </a:r>
            <a:r>
              <a:rPr i="1" lang="en-US"/>
              <a:t>NOLI ME TANGERE</a:t>
            </a:r>
            <a:r>
              <a:rPr lang="en-US"/>
              <a:t> AND </a:t>
            </a:r>
            <a:r>
              <a:rPr i="1" lang="en-US"/>
              <a:t>EL FILIBUSTERISMO</a:t>
            </a:r>
            <a:r>
              <a:rPr lang="en-US"/>
              <a:t>) EXPOSED SPANISH OPPRESSION AND INSPIRED FILIPINOS TO SEEK REFORMS AND INDEPENDENCE.</a:t>
            </a:r>
            <a:endParaRPr sz="1600"/>
          </a:p>
          <a:p>
            <a:pPr indent="-228600" lvl="1" marL="685800" rtl="0" algn="l">
              <a:lnSpc>
                <a:spcPct val="120000"/>
              </a:lnSpc>
              <a:spcBef>
                <a:spcPts val="500"/>
              </a:spcBef>
              <a:spcAft>
                <a:spcPts val="0"/>
              </a:spcAft>
              <a:buSzPts val="1800"/>
              <a:buChar char="•"/>
            </a:pPr>
            <a:r>
              <a:rPr lang="en-US"/>
              <a:t>LEGISLATORS BELIEVED STUDYING RIZAL’S WORKS WOULD INSTILL DISCIPLINE, CIVIC VIRTUE, AND LOVE OF COUNTRY AMONG THE YOUTH.</a:t>
            </a:r>
            <a:endParaRPr sz="1600"/>
          </a:p>
          <a:p>
            <a:pPr indent="-228600" lvl="0" marL="228600" rtl="0" algn="l">
              <a:lnSpc>
                <a:spcPct val="120000"/>
              </a:lnSpc>
              <a:spcBef>
                <a:spcPts val="1000"/>
              </a:spcBef>
              <a:spcAft>
                <a:spcPts val="0"/>
              </a:spcAft>
              <a:buSzPts val="2000"/>
              <a:buChar char="•"/>
            </a:pPr>
            <a:r>
              <a:rPr b="1" lang="en-US"/>
              <a:t>4. SENATOR CLARO M. RECTO’S PROPOSAL (1956)</a:t>
            </a:r>
            <a:endParaRPr sz="1800"/>
          </a:p>
          <a:p>
            <a:pPr indent="-228600" lvl="1" marL="685800" rtl="0" algn="l">
              <a:lnSpc>
                <a:spcPct val="120000"/>
              </a:lnSpc>
              <a:spcBef>
                <a:spcPts val="500"/>
              </a:spcBef>
              <a:spcAft>
                <a:spcPts val="0"/>
              </a:spcAft>
              <a:buSzPts val="1800"/>
              <a:buChar char="•"/>
            </a:pPr>
            <a:r>
              <a:rPr lang="en-US"/>
              <a:t>SENATOR </a:t>
            </a:r>
            <a:r>
              <a:rPr b="1" lang="en-US"/>
              <a:t>CLARO M. RECTO</a:t>
            </a:r>
            <a:r>
              <a:rPr lang="en-US"/>
              <a:t> FILED A BILL REQUIRING THE TEACHING OF RIZAL’S LIFE AND WORKS IN SCHOOLS.</a:t>
            </a:r>
            <a:endParaRPr sz="1600"/>
          </a:p>
          <a:p>
            <a:pPr indent="-228600" lvl="1" marL="685800" rtl="0" algn="l">
              <a:lnSpc>
                <a:spcPct val="120000"/>
              </a:lnSpc>
              <a:spcBef>
                <a:spcPts val="500"/>
              </a:spcBef>
              <a:spcAft>
                <a:spcPts val="0"/>
              </a:spcAft>
              <a:buSzPts val="1800"/>
              <a:buChar char="•"/>
            </a:pPr>
            <a:r>
              <a:rPr lang="en-US"/>
              <a:t>HE BELIEVED THAT REVISITING RIZAL’S IDEAS WOULD HELP STRENGTHEN FILIPINO VALUES AND COUNTER COLONIAL MENTALITY.</a:t>
            </a:r>
            <a:endParaRPr sz="1600"/>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913775" y="618517"/>
            <a:ext cx="10364451" cy="5625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wentieth Century"/>
              <a:buNone/>
            </a:pPr>
            <a:r>
              <a:t/>
            </a:r>
            <a:endParaRPr/>
          </a:p>
        </p:txBody>
      </p:sp>
      <p:sp>
        <p:nvSpPr>
          <p:cNvPr id="199" name="Google Shape;199;p25"/>
          <p:cNvSpPr txBox="1"/>
          <p:nvPr>
            <p:ph idx="1" type="body"/>
          </p:nvPr>
        </p:nvSpPr>
        <p:spPr>
          <a:xfrm>
            <a:off x="913774" y="1308100"/>
            <a:ext cx="10363826" cy="527050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b="1" lang="en-US"/>
              <a:t>5. STRONG OPPOSITION FROM THE CATHOLIC CHURCH</a:t>
            </a:r>
            <a:endParaRPr/>
          </a:p>
          <a:p>
            <a:pPr indent="-228600" lvl="1" marL="685800" rtl="0" algn="l">
              <a:lnSpc>
                <a:spcPct val="120000"/>
              </a:lnSpc>
              <a:spcBef>
                <a:spcPts val="500"/>
              </a:spcBef>
              <a:spcAft>
                <a:spcPts val="0"/>
              </a:spcAft>
              <a:buSzPts val="2000"/>
              <a:buChar char="•"/>
            </a:pPr>
            <a:r>
              <a:rPr lang="en-US" sz="2000"/>
              <a:t>THE CHURCH OBJECTED BECAUSE RIZAL’S NOVELS CRITICIZED FRIARS AND EXPOSED ABUSES OF THE CLERGY DURING THE SPANISH PERIOD.</a:t>
            </a:r>
            <a:endParaRPr/>
          </a:p>
          <a:p>
            <a:pPr indent="-228600" lvl="1" marL="685800" rtl="0" algn="l">
              <a:lnSpc>
                <a:spcPct val="120000"/>
              </a:lnSpc>
              <a:spcBef>
                <a:spcPts val="500"/>
              </a:spcBef>
              <a:spcAft>
                <a:spcPts val="0"/>
              </a:spcAft>
              <a:buSzPts val="2000"/>
              <a:buChar char="•"/>
            </a:pPr>
            <a:r>
              <a:rPr lang="en-US" sz="2000"/>
              <a:t>BISHOPS ARGUED THAT MAKING STUDENTS READ THE </a:t>
            </a:r>
            <a:r>
              <a:rPr b="1" lang="en-US" sz="2000"/>
              <a:t>UNEXPURGATED VERSIONS</a:t>
            </a:r>
            <a:r>
              <a:rPr lang="en-US" sz="2000"/>
              <a:t> OF THE NOVELS WOULD ENDANGER THEIR FAITH.</a:t>
            </a:r>
            <a:endParaRPr/>
          </a:p>
          <a:p>
            <a:pPr indent="-228600" lvl="1" marL="685800" rtl="0" algn="l">
              <a:lnSpc>
                <a:spcPct val="120000"/>
              </a:lnSpc>
              <a:spcBef>
                <a:spcPts val="500"/>
              </a:spcBef>
              <a:spcAft>
                <a:spcPts val="0"/>
              </a:spcAft>
              <a:buSzPts val="2000"/>
              <a:buChar char="•"/>
            </a:pPr>
            <a:r>
              <a:rPr lang="en-US" sz="2000"/>
              <a:t>THE CHURCH EVEN THREATENED TO CLOSE CATHOLIC SCHOOLS IF THE LAW PASSED.</a:t>
            </a:r>
            <a:endParaRPr/>
          </a:p>
          <a:p>
            <a:pPr indent="-228600" lvl="0" marL="228600" rtl="0" algn="l">
              <a:lnSpc>
                <a:spcPct val="120000"/>
              </a:lnSpc>
              <a:spcBef>
                <a:spcPts val="1000"/>
              </a:spcBef>
              <a:spcAft>
                <a:spcPts val="0"/>
              </a:spcAft>
              <a:buSzPts val="2000"/>
              <a:buChar char="•"/>
            </a:pPr>
            <a:r>
              <a:rPr b="1" lang="en-US"/>
              <a:t>6. DEFENSE BY SENATORS RECTO AND JOSE P. LAUREL</a:t>
            </a:r>
            <a:endParaRPr/>
          </a:p>
          <a:p>
            <a:pPr indent="-228600" lvl="1" marL="685800" rtl="0" algn="l">
              <a:lnSpc>
                <a:spcPct val="120000"/>
              </a:lnSpc>
              <a:spcBef>
                <a:spcPts val="500"/>
              </a:spcBef>
              <a:spcAft>
                <a:spcPts val="0"/>
              </a:spcAft>
              <a:buSzPts val="2000"/>
              <a:buChar char="•"/>
            </a:pPr>
            <a:r>
              <a:rPr lang="en-US" sz="2000"/>
              <a:t>RECTO DEFENDED THE BILL AS ESSENTIAL FOR NATIONALISM, NOT ANTI-CATHOLIC.</a:t>
            </a:r>
            <a:endParaRPr/>
          </a:p>
          <a:p>
            <a:pPr indent="-228600" lvl="1" marL="685800" rtl="0" algn="l">
              <a:lnSpc>
                <a:spcPct val="120000"/>
              </a:lnSpc>
              <a:spcBef>
                <a:spcPts val="500"/>
              </a:spcBef>
              <a:spcAft>
                <a:spcPts val="0"/>
              </a:spcAft>
              <a:buSzPts val="2000"/>
              <a:buChar char="•"/>
            </a:pPr>
            <a:r>
              <a:rPr lang="en-US" sz="2000"/>
              <a:t>SENATOR </a:t>
            </a:r>
            <a:r>
              <a:rPr b="1" lang="en-US" sz="2000"/>
              <a:t>JOSE P. LAUREL</a:t>
            </a:r>
            <a:r>
              <a:rPr lang="en-US" sz="2000"/>
              <a:t>, CHAIR OF THE EDUCATION COMMITTEE, SUPPORTED RECTO AND SPONSORED THE FINAL VERSION OF THE LAW.</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type="title"/>
          </p:nvPr>
        </p:nvSpPr>
        <p:spPr>
          <a:xfrm>
            <a:off x="913775" y="618517"/>
            <a:ext cx="10364451" cy="7403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t/>
            </a:r>
            <a:endParaRPr/>
          </a:p>
        </p:txBody>
      </p:sp>
      <p:sp>
        <p:nvSpPr>
          <p:cNvPr id="205" name="Google Shape;205;p26"/>
          <p:cNvSpPr txBox="1"/>
          <p:nvPr>
            <p:ph idx="1" type="body"/>
          </p:nvPr>
        </p:nvSpPr>
        <p:spPr>
          <a:xfrm>
            <a:off x="913774" y="1498600"/>
            <a:ext cx="10363826" cy="4292599"/>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b="1" lang="en-US"/>
              <a:t>7. COMPROMISE IN THE FINAL LAW</a:t>
            </a:r>
            <a:endParaRPr/>
          </a:p>
          <a:p>
            <a:pPr indent="-228600" lvl="1" marL="685800" rtl="0" algn="l">
              <a:lnSpc>
                <a:spcPct val="120000"/>
              </a:lnSpc>
              <a:spcBef>
                <a:spcPts val="500"/>
              </a:spcBef>
              <a:spcAft>
                <a:spcPts val="0"/>
              </a:spcAft>
              <a:buSzPts val="2000"/>
              <a:buChar char="•"/>
            </a:pPr>
            <a:r>
              <a:rPr lang="en-US" sz="2000"/>
              <a:t>STUDENTS WOULD BE REQUIRED TO READ RIZAL’S LIFE, WORKS, AND WRITINGS.</a:t>
            </a:r>
            <a:endParaRPr/>
          </a:p>
          <a:p>
            <a:pPr indent="-228600" lvl="1" marL="685800" rtl="0" algn="l">
              <a:lnSpc>
                <a:spcPct val="120000"/>
              </a:lnSpc>
              <a:spcBef>
                <a:spcPts val="500"/>
              </a:spcBef>
              <a:spcAft>
                <a:spcPts val="0"/>
              </a:spcAft>
              <a:buSzPts val="2000"/>
              <a:buChar char="•"/>
            </a:pPr>
            <a:r>
              <a:rPr lang="en-US" sz="2000"/>
              <a:t>SCHOOLS COULD USE </a:t>
            </a:r>
            <a:r>
              <a:rPr b="1" lang="en-US" sz="2000"/>
              <a:t>EXPURGATED (EDITED)</a:t>
            </a:r>
            <a:r>
              <a:rPr lang="en-US" sz="2000"/>
              <a:t> VERSIONS OF </a:t>
            </a:r>
            <a:r>
              <a:rPr i="1" lang="en-US" sz="2000"/>
              <a:t>NOLI</a:t>
            </a:r>
            <a:r>
              <a:rPr lang="en-US" sz="2000"/>
              <a:t> AND </a:t>
            </a:r>
            <a:r>
              <a:rPr i="1" lang="en-US" sz="2000"/>
              <a:t>EL FILI</a:t>
            </a:r>
            <a:r>
              <a:rPr lang="en-US" sz="2000"/>
              <a:t> FOR YOUNGER STUDENTS, WHILE UNEXPURGATED VERSIONS WERE KEPT IN LIBRARIES.</a:t>
            </a:r>
            <a:endParaRPr/>
          </a:p>
          <a:p>
            <a:pPr indent="-228600" lvl="0" marL="228600" rtl="0" algn="l">
              <a:lnSpc>
                <a:spcPct val="120000"/>
              </a:lnSpc>
              <a:spcBef>
                <a:spcPts val="1000"/>
              </a:spcBef>
              <a:spcAft>
                <a:spcPts val="0"/>
              </a:spcAft>
              <a:buSzPts val="2000"/>
              <a:buChar char="•"/>
            </a:pPr>
            <a:r>
              <a:rPr b="1" lang="en-US"/>
              <a:t>8. APPROVAL OF THE RIZAL LAW (JUNE 12, 1956)</a:t>
            </a:r>
            <a:endParaRPr/>
          </a:p>
          <a:p>
            <a:pPr indent="-228600" lvl="1" marL="685800" rtl="0" algn="l">
              <a:lnSpc>
                <a:spcPct val="120000"/>
              </a:lnSpc>
              <a:spcBef>
                <a:spcPts val="500"/>
              </a:spcBef>
              <a:spcAft>
                <a:spcPts val="0"/>
              </a:spcAft>
              <a:buSzPts val="2000"/>
              <a:buChar char="•"/>
            </a:pPr>
            <a:r>
              <a:rPr lang="en-US" sz="2000"/>
              <a:t>R.A. 1425 WAS SIGNED INTO LAW BY PRESIDENT </a:t>
            </a:r>
            <a:r>
              <a:rPr b="1" lang="en-US" sz="2000"/>
              <a:t>RAMON MAGSAYSAY</a:t>
            </a:r>
            <a:r>
              <a:rPr lang="en-US" sz="2000"/>
              <a:t>.</a:t>
            </a:r>
            <a:endParaRPr/>
          </a:p>
          <a:p>
            <a:pPr indent="-228600" lvl="1" marL="685800" rtl="0" algn="l">
              <a:lnSpc>
                <a:spcPct val="120000"/>
              </a:lnSpc>
              <a:spcBef>
                <a:spcPts val="500"/>
              </a:spcBef>
              <a:spcAft>
                <a:spcPts val="0"/>
              </a:spcAft>
              <a:buSzPts val="2000"/>
              <a:buChar char="•"/>
            </a:pPr>
            <a:r>
              <a:rPr lang="en-US" sz="2000"/>
              <a:t>IT MANDATED THE TEACHING OF RIZAL’S LIFE AND WORKS IN ALL SCHOOLS, COLLEGES, AND UNIVERSITIES IN THE PHILIPPINES.</a:t>
            </a:r>
            <a:endParaRPr/>
          </a:p>
          <a:p>
            <a:pPr indent="0" lvl="0" marL="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Twentieth Century"/>
              <a:buNone/>
            </a:pPr>
            <a:r>
              <a:rPr b="1" lang="en-US" sz="4000"/>
              <a:t>OBJECTIVES OF RA 1425</a:t>
            </a:r>
            <a:endParaRPr/>
          </a:p>
        </p:txBody>
      </p:sp>
      <p:sp>
        <p:nvSpPr>
          <p:cNvPr id="212" name="Google Shape;212;p27"/>
          <p:cNvSpPr/>
          <p:nvPr/>
        </p:nvSpPr>
        <p:spPr>
          <a:xfrm>
            <a:off x="406400" y="1790700"/>
            <a:ext cx="10871200" cy="4457699"/>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wentieth Century"/>
              <a:buChar char="•"/>
            </a:pPr>
            <a:r>
              <a:rPr b="1" i="0" lang="en-US" sz="1800" u="none" cap="none" strike="noStrike">
                <a:solidFill>
                  <a:schemeClr val="dk1"/>
                </a:solidFill>
                <a:latin typeface="Twentieth Century"/>
                <a:ea typeface="Twentieth Century"/>
                <a:cs typeface="Twentieth Century"/>
                <a:sym typeface="Twentieth Century"/>
              </a:rPr>
              <a:t>Promote Patriotism and Nationalism</a:t>
            </a:r>
            <a:r>
              <a:rPr b="0" i="0" lang="en-US" sz="1800" u="none" cap="none" strike="noStrike">
                <a:solidFill>
                  <a:schemeClr val="dk1"/>
                </a:solidFill>
                <a:latin typeface="Twentieth Century"/>
                <a:ea typeface="Twentieth Century"/>
                <a:cs typeface="Twentieth Century"/>
                <a:sym typeface="Twentieth Century"/>
              </a:rPr>
              <a:t>Encourage the youth to emulate Rizal's ideals and values.</a:t>
            </a:r>
            <a:endParaRPr b="0" i="0" sz="1800" u="none" cap="none" strike="noStrike">
              <a:solidFill>
                <a:schemeClr val="dk1"/>
              </a:solidFill>
              <a:latin typeface="Twentieth Century"/>
              <a:ea typeface="Twentieth Century"/>
              <a:cs typeface="Twentieth Century"/>
              <a:sym typeface="Twentieth Century"/>
            </a:endParaRPr>
          </a:p>
          <a:p>
            <a:pPr indent="0" lvl="1" marL="114300" marR="0" rtl="0" algn="l">
              <a:lnSpc>
                <a:spcPct val="75000"/>
              </a:lnSpc>
              <a:spcBef>
                <a:spcPts val="18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114300" lvl="1" marL="114300" marR="0" rtl="0" algn="l">
              <a:lnSpc>
                <a:spcPct val="75000"/>
              </a:lnSpc>
              <a:spcBef>
                <a:spcPts val="180"/>
              </a:spcBef>
              <a:spcAft>
                <a:spcPts val="0"/>
              </a:spcAft>
              <a:buClr>
                <a:schemeClr val="dk1"/>
              </a:buClr>
              <a:buSzPts val="1800"/>
              <a:buFont typeface="Twentieth Century"/>
              <a:buChar char="•"/>
            </a:pPr>
            <a:r>
              <a:rPr b="1" i="0" lang="en-US" sz="1800" u="none" cap="none" strike="noStrike">
                <a:solidFill>
                  <a:schemeClr val="dk1"/>
                </a:solidFill>
                <a:latin typeface="Twentieth Century"/>
                <a:ea typeface="Twentieth Century"/>
                <a:cs typeface="Twentieth Century"/>
                <a:sym typeface="Twentieth Century"/>
              </a:rPr>
              <a:t>Foster Awareness of Filipino Identity</a:t>
            </a:r>
            <a:r>
              <a:rPr b="0" i="0" lang="en-US" sz="1800" u="none" cap="none" strike="noStrike">
                <a:solidFill>
                  <a:schemeClr val="dk1"/>
                </a:solidFill>
                <a:latin typeface="Twentieth Century"/>
                <a:ea typeface="Twentieth Century"/>
                <a:cs typeface="Twentieth Century"/>
                <a:sym typeface="Twentieth Century"/>
              </a:rPr>
              <a:t>Deepen understanding of the country's history and struggles for independence.</a:t>
            </a:r>
            <a:endParaRPr b="0" i="0" sz="1800" u="none" cap="none" strike="noStrike">
              <a:solidFill>
                <a:schemeClr val="dk1"/>
              </a:solidFill>
              <a:latin typeface="Twentieth Century"/>
              <a:ea typeface="Twentieth Century"/>
              <a:cs typeface="Twentieth Century"/>
              <a:sym typeface="Twentieth Century"/>
            </a:endParaRPr>
          </a:p>
          <a:p>
            <a:pPr indent="0" lvl="1" marL="114300" marR="0" rtl="0" algn="l">
              <a:lnSpc>
                <a:spcPct val="75000"/>
              </a:lnSpc>
              <a:spcBef>
                <a:spcPts val="18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114300" lvl="1" marL="114300" marR="0" rtl="0" algn="l">
              <a:lnSpc>
                <a:spcPct val="75000"/>
              </a:lnSpc>
              <a:spcBef>
                <a:spcPts val="180"/>
              </a:spcBef>
              <a:spcAft>
                <a:spcPts val="0"/>
              </a:spcAft>
              <a:buClr>
                <a:schemeClr val="dk1"/>
              </a:buClr>
              <a:buSzPts val="1800"/>
              <a:buFont typeface="Twentieth Century"/>
              <a:buChar char="•"/>
            </a:pPr>
            <a:r>
              <a:rPr b="1" i="0" lang="en-US" sz="1800" u="none" cap="none" strike="noStrike">
                <a:solidFill>
                  <a:schemeClr val="dk1"/>
                </a:solidFill>
                <a:latin typeface="Twentieth Century"/>
                <a:ea typeface="Twentieth Century"/>
                <a:cs typeface="Twentieth Century"/>
                <a:sym typeface="Twentieth Century"/>
              </a:rPr>
              <a:t>Combat Colonial Mentality</a:t>
            </a:r>
            <a:r>
              <a:rPr b="0" i="0" lang="en-US" sz="1800" u="none" cap="none" strike="noStrike">
                <a:solidFill>
                  <a:schemeClr val="dk1"/>
                </a:solidFill>
                <a:latin typeface="Twentieth Century"/>
                <a:ea typeface="Twentieth Century"/>
                <a:cs typeface="Twentieth Century"/>
                <a:sym typeface="Twentieth Century"/>
              </a:rPr>
              <a:t>Counteract the lingering effects of colonial rule on Filipino consciousness.</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lang="en-US"/>
              <a:t>KEY PROVISIONS </a:t>
            </a:r>
            <a:endParaRPr/>
          </a:p>
        </p:txBody>
      </p:sp>
      <p:sp>
        <p:nvSpPr>
          <p:cNvPr id="218" name="Google Shape;218;p28"/>
          <p:cNvSpPr/>
          <p:nvPr/>
        </p:nvSpPr>
        <p:spPr>
          <a:xfrm>
            <a:off x="914400" y="2366963"/>
            <a:ext cx="10363200" cy="3424237"/>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0" lvl="1" marL="114300" marR="0" rtl="0" algn="l">
              <a:lnSpc>
                <a:spcPct val="75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114300" lvl="2" marL="228600" marR="0" rtl="0" algn="l">
              <a:lnSpc>
                <a:spcPct val="75000"/>
              </a:lnSpc>
              <a:spcBef>
                <a:spcPts val="180"/>
              </a:spcBef>
              <a:spcAft>
                <a:spcPts val="0"/>
              </a:spcAft>
              <a:buClr>
                <a:schemeClr val="dk1"/>
              </a:buClr>
              <a:buSzPts val="1800"/>
              <a:buFont typeface="Twentieth Century"/>
              <a:buChar char="•"/>
            </a:pPr>
            <a:r>
              <a:rPr b="1" i="0" lang="en-US" sz="1800" u="none" cap="none" strike="noStrike">
                <a:solidFill>
                  <a:schemeClr val="dk1"/>
                </a:solidFill>
                <a:latin typeface="Twentieth Century"/>
                <a:ea typeface="Twentieth Century"/>
                <a:cs typeface="Twentieth Century"/>
                <a:sym typeface="Twentieth Century"/>
              </a:rPr>
              <a:t>Section 1: Study of Rizal's Life and Works </a:t>
            </a:r>
            <a:r>
              <a:rPr b="0" i="0" lang="en-US" sz="1800" u="none" cap="none" strike="noStrike">
                <a:solidFill>
                  <a:schemeClr val="dk1"/>
                </a:solidFill>
                <a:latin typeface="Twentieth Century"/>
                <a:ea typeface="Twentieth Century"/>
                <a:cs typeface="Twentieth Century"/>
                <a:sym typeface="Twentieth Century"/>
              </a:rPr>
              <a:t>Mandates all educational institutions to include courses on Rizal's life, works, and writings.</a:t>
            </a:r>
            <a:endParaRPr b="0" i="0" sz="1800" u="none" cap="none" strike="noStrike">
              <a:solidFill>
                <a:schemeClr val="dk1"/>
              </a:solidFill>
              <a:latin typeface="Twentieth Century"/>
              <a:ea typeface="Twentieth Century"/>
              <a:cs typeface="Twentieth Century"/>
              <a:sym typeface="Twentieth Century"/>
            </a:endParaRPr>
          </a:p>
          <a:p>
            <a:pPr indent="0" lvl="1" marL="114300" marR="0" rtl="0" algn="l">
              <a:lnSpc>
                <a:spcPct val="75000"/>
              </a:lnSpc>
              <a:spcBef>
                <a:spcPts val="18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0" lvl="1" marL="114300" marR="0" rtl="0" algn="l">
              <a:lnSpc>
                <a:spcPct val="75000"/>
              </a:lnSpc>
              <a:spcBef>
                <a:spcPts val="18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114300" lvl="2" marL="228600" marR="0" rtl="0" algn="l">
              <a:lnSpc>
                <a:spcPct val="75000"/>
              </a:lnSpc>
              <a:spcBef>
                <a:spcPts val="180"/>
              </a:spcBef>
              <a:spcAft>
                <a:spcPts val="0"/>
              </a:spcAft>
              <a:buClr>
                <a:schemeClr val="dk1"/>
              </a:buClr>
              <a:buSzPts val="1800"/>
              <a:buFont typeface="Twentieth Century"/>
              <a:buChar char="•"/>
            </a:pPr>
            <a:r>
              <a:rPr b="1" i="0" lang="en-US" sz="1800" u="none" cap="none" strike="noStrike">
                <a:solidFill>
                  <a:schemeClr val="dk1"/>
                </a:solidFill>
                <a:latin typeface="Twentieth Century"/>
                <a:ea typeface="Twentieth Century"/>
                <a:cs typeface="Twentieth Century"/>
                <a:sym typeface="Twentieth Century"/>
              </a:rPr>
              <a:t>Section 2: Availability of Rizal's Works</a:t>
            </a:r>
            <a:r>
              <a:rPr b="0" i="0" lang="en-US" sz="1800" u="none" cap="none" strike="noStrike">
                <a:solidFill>
                  <a:schemeClr val="dk1"/>
                </a:solidFill>
                <a:latin typeface="Twentieth Century"/>
                <a:ea typeface="Twentieth Century"/>
                <a:cs typeface="Twentieth Century"/>
                <a:sym typeface="Twentieth Century"/>
              </a:rPr>
              <a:t>Requires schools to have adequate copies of </a:t>
            </a:r>
            <a:r>
              <a:rPr b="0" i="1" lang="en-US" sz="1800" u="none" cap="none" strike="noStrike">
                <a:solidFill>
                  <a:schemeClr val="dk1"/>
                </a:solidFill>
                <a:latin typeface="Twentieth Century"/>
                <a:ea typeface="Twentieth Century"/>
                <a:cs typeface="Twentieth Century"/>
                <a:sym typeface="Twentieth Century"/>
              </a:rPr>
              <a:t>Noli Me Tangere</a:t>
            </a:r>
            <a:r>
              <a:rPr b="0" i="0" lang="en-US" sz="1800" u="none" cap="none" strike="noStrike">
                <a:solidFill>
                  <a:schemeClr val="dk1"/>
                </a:solidFill>
                <a:latin typeface="Twentieth Century"/>
                <a:ea typeface="Twentieth Century"/>
                <a:cs typeface="Twentieth Century"/>
                <a:sym typeface="Twentieth Century"/>
              </a:rPr>
              <a:t> and </a:t>
            </a:r>
            <a:r>
              <a:rPr b="0" i="1" lang="en-US" sz="1800" u="none" cap="none" strike="noStrike">
                <a:solidFill>
                  <a:schemeClr val="dk1"/>
                </a:solidFill>
                <a:latin typeface="Twentieth Century"/>
                <a:ea typeface="Twentieth Century"/>
                <a:cs typeface="Twentieth Century"/>
                <a:sym typeface="Twentieth Century"/>
              </a:rPr>
              <a:t>El Filibusterismo</a:t>
            </a:r>
            <a:r>
              <a:rPr b="0" i="0" lang="en-US" sz="1800" u="none" cap="none" strike="noStrike">
                <a:solidFill>
                  <a:schemeClr val="dk1"/>
                </a:solidFill>
                <a:latin typeface="Twentieth Century"/>
                <a:ea typeface="Twentieth Century"/>
                <a:cs typeface="Twentieth Century"/>
                <a:sym typeface="Twentieth Century"/>
              </a:rPr>
              <a:t> in their libraries.</a:t>
            </a:r>
            <a:endParaRPr b="0" i="0" sz="1800" u="none" cap="none" strike="noStrike">
              <a:solidFill>
                <a:schemeClr val="dk1"/>
              </a:solidFill>
              <a:latin typeface="Twentieth Century"/>
              <a:ea typeface="Twentieth Century"/>
              <a:cs typeface="Twentieth Century"/>
              <a:sym typeface="Twentieth Century"/>
            </a:endParaRPr>
          </a:p>
          <a:p>
            <a:pPr indent="0" lvl="1" marL="114300" marR="0" rtl="0" algn="l">
              <a:lnSpc>
                <a:spcPct val="75000"/>
              </a:lnSpc>
              <a:spcBef>
                <a:spcPts val="18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0" lvl="1" marL="114300" marR="0" rtl="0" algn="l">
              <a:lnSpc>
                <a:spcPct val="75000"/>
              </a:lnSpc>
              <a:spcBef>
                <a:spcPts val="18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114300" lvl="2" marL="228600" marR="0" rtl="0" algn="l">
              <a:lnSpc>
                <a:spcPct val="75000"/>
              </a:lnSpc>
              <a:spcBef>
                <a:spcPts val="180"/>
              </a:spcBef>
              <a:spcAft>
                <a:spcPts val="0"/>
              </a:spcAft>
              <a:buClr>
                <a:schemeClr val="dk1"/>
              </a:buClr>
              <a:buSzPts val="1800"/>
              <a:buFont typeface="Twentieth Century"/>
              <a:buChar char="•"/>
            </a:pPr>
            <a:r>
              <a:rPr b="1" i="0" lang="en-US" sz="1800" u="none" cap="none" strike="noStrike">
                <a:solidFill>
                  <a:schemeClr val="dk1"/>
                </a:solidFill>
                <a:latin typeface="Twentieth Century"/>
                <a:ea typeface="Twentieth Century"/>
                <a:cs typeface="Twentieth Century"/>
                <a:sym typeface="Twentieth Century"/>
              </a:rPr>
              <a:t>Section 3: Inclusion in Curriculum</a:t>
            </a:r>
            <a:r>
              <a:rPr b="0" i="0" lang="en-US" sz="1800" u="none" cap="none" strike="noStrike">
                <a:solidFill>
                  <a:schemeClr val="dk1"/>
                </a:solidFill>
                <a:latin typeface="Twentieth Century"/>
                <a:ea typeface="Twentieth Century"/>
                <a:cs typeface="Twentieth Century"/>
                <a:sym typeface="Twentieth Century"/>
              </a:rPr>
              <a:t>The law makes it compulsory for the life and works of Rizal to be included in the curricula of all schools, colleges, and universities.</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t/>
            </a:r>
            <a:endParaRPr/>
          </a:p>
        </p:txBody>
      </p:sp>
      <p:sp>
        <p:nvSpPr>
          <p:cNvPr id="224" name="Google Shape;224;p29"/>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SzPts val="5400"/>
              <a:buNone/>
            </a:pPr>
            <a:r>
              <a:rPr lang="en-US" sz="5400"/>
              <a:t>II. ISSUES OF RIZAL LAW</a:t>
            </a:r>
            <a:endParaRPr sz="5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0"/>
          <p:cNvSpPr txBox="1"/>
          <p:nvPr>
            <p:ph type="title"/>
          </p:nvPr>
        </p:nvSpPr>
        <p:spPr>
          <a:xfrm>
            <a:off x="913775" y="618517"/>
            <a:ext cx="10364451" cy="12356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Twentieth Century"/>
              <a:buNone/>
            </a:pPr>
            <a:r>
              <a:rPr b="1" lang="en-US" sz="4000"/>
              <a:t>OPPOSITION TO THE LAW</a:t>
            </a:r>
            <a:endParaRPr/>
          </a:p>
        </p:txBody>
      </p:sp>
      <p:sp>
        <p:nvSpPr>
          <p:cNvPr id="230" name="Google Shape;230;p30"/>
          <p:cNvSpPr/>
          <p:nvPr/>
        </p:nvSpPr>
        <p:spPr>
          <a:xfrm>
            <a:off x="1181100" y="2108200"/>
            <a:ext cx="3101161" cy="1860697"/>
          </a:xfrm>
          <a:prstGeom prst="roundRect">
            <a:avLst>
              <a:gd fmla="val 16667" name="adj"/>
            </a:avLst>
          </a:prstGeom>
          <a:solidFill>
            <a:schemeClr val="accent1"/>
          </a:solidFill>
          <a:ln cap="flat"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Catholic Church's Objection</a:t>
            </a:r>
            <a:endParaRPr b="0" i="0" sz="1800" u="none" cap="none" strike="noStrike">
              <a:solidFill>
                <a:schemeClr val="lt1"/>
              </a:solidFill>
              <a:latin typeface="Twentieth Century"/>
              <a:ea typeface="Twentieth Century"/>
              <a:cs typeface="Twentieth Century"/>
              <a:sym typeface="Twentieth Century"/>
            </a:endParaRPr>
          </a:p>
        </p:txBody>
      </p:sp>
      <p:sp>
        <p:nvSpPr>
          <p:cNvPr id="231" name="Google Shape;231;p30"/>
          <p:cNvSpPr/>
          <p:nvPr/>
        </p:nvSpPr>
        <p:spPr>
          <a:xfrm>
            <a:off x="4282261" y="2108200"/>
            <a:ext cx="3101161" cy="1860697"/>
          </a:xfrm>
          <a:prstGeom prst="rightArrow">
            <a:avLst>
              <a:gd fmla="val 50000" name="adj1"/>
              <a:gd fmla="val 50000" name="adj2"/>
            </a:avLst>
          </a:prstGeom>
          <a:solidFill>
            <a:srgbClr val="F4CED6">
              <a:alpha val="89803"/>
            </a:srgbClr>
          </a:solidFill>
          <a:ln cap="flat" cmpd="sng" w="15875">
            <a:solidFill>
              <a:srgbClr val="F4CED6">
                <a:alpha val="89803"/>
              </a:srgbClr>
            </a:solidFill>
            <a:prstDash val="solid"/>
            <a:round/>
            <a:headEnd len="sm" w="sm" type="none"/>
            <a:tailEnd len="sm" w="sm" type="none"/>
          </a:ln>
        </p:spPr>
        <p:txBody>
          <a:bodyPr anchorCtr="0" anchor="t" bIns="45700" lIns="91425" spcFirstLastPara="1" rIns="91425" wrap="square" tIns="45700">
            <a:noAutofit/>
          </a:bodyPr>
          <a:lstStyle/>
          <a:p>
            <a:pPr indent="0" lvl="1" marL="114300" marR="0" rtl="0" algn="l">
              <a:lnSpc>
                <a:spcPct val="75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114300" lvl="1" marL="114300" marR="0" rtl="0" algn="l">
              <a:lnSpc>
                <a:spcPct val="75000"/>
              </a:lnSpc>
              <a:spcBef>
                <a:spcPts val="180"/>
              </a:spcBef>
              <a:spcAft>
                <a:spcPts val="0"/>
              </a:spcAft>
              <a:buClr>
                <a:schemeClr val="dk1"/>
              </a:buClr>
              <a:buSzPts val="1800"/>
              <a:buFont typeface="Twentieth Century"/>
              <a:buChar char="•"/>
            </a:pPr>
            <a:r>
              <a:rPr b="0" i="0" lang="en-US" sz="1800" u="none" cap="none" strike="noStrike">
                <a:solidFill>
                  <a:schemeClr val="dk1"/>
                </a:solidFill>
                <a:latin typeface="Twentieth Century"/>
                <a:ea typeface="Twentieth Century"/>
                <a:cs typeface="Twentieth Century"/>
                <a:sym typeface="Twentieth Century"/>
              </a:rPr>
              <a:t>The Catholic Church opposed the law, arguing that Rizal’s works contain anti-Catholic themes.</a:t>
            </a:r>
            <a:endParaRPr b="0" i="0" sz="1800" u="none" cap="none" strike="noStrike">
              <a:solidFill>
                <a:schemeClr val="dk1"/>
              </a:solidFill>
              <a:latin typeface="Twentieth Century"/>
              <a:ea typeface="Twentieth Century"/>
              <a:cs typeface="Twentieth Century"/>
              <a:sym typeface="Twentieth Century"/>
            </a:endParaRPr>
          </a:p>
        </p:txBody>
      </p:sp>
      <p:sp>
        <p:nvSpPr>
          <p:cNvPr id="232" name="Google Shape;232;p30"/>
          <p:cNvSpPr/>
          <p:nvPr/>
        </p:nvSpPr>
        <p:spPr>
          <a:xfrm>
            <a:off x="1181100" y="4248001"/>
            <a:ext cx="3101161" cy="1860697"/>
          </a:xfrm>
          <a:prstGeom prst="roundRect">
            <a:avLst>
              <a:gd fmla="val 16667" name="adj"/>
            </a:avLst>
          </a:prstGeom>
          <a:noFill/>
          <a:ln cap="flat"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33" name="Google Shape;233;p30"/>
          <p:cNvSpPr/>
          <p:nvPr/>
        </p:nvSpPr>
        <p:spPr>
          <a:xfrm>
            <a:off x="4282261" y="4248001"/>
            <a:ext cx="3101161" cy="1860697"/>
          </a:xfrm>
          <a:prstGeom prst="rightArrow">
            <a:avLst>
              <a:gd fmla="val 50000" name="adj1"/>
              <a:gd fmla="val 50000" name="adj2"/>
            </a:avLst>
          </a:prstGeom>
          <a:noFill/>
          <a:ln cap="flat" cmpd="sng" w="15875">
            <a:solidFill>
              <a:srgbClr val="F4CED6">
                <a:alpha val="89803"/>
              </a:srgbClr>
            </a:solidFill>
            <a:prstDash val="solid"/>
            <a:round/>
            <a:headEnd len="sm" w="sm" type="none"/>
            <a:tailEnd len="sm" w="sm" type="none"/>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wentieth Century"/>
              <a:buChar char="•"/>
            </a:pPr>
            <a:r>
              <a:rPr b="0" i="0" lang="en-US" sz="1800" u="none" cap="none" strike="noStrike">
                <a:solidFill>
                  <a:schemeClr val="dk1"/>
                </a:solidFill>
                <a:latin typeface="Twentieth Century"/>
                <a:ea typeface="Twentieth Century"/>
                <a:cs typeface="Twentieth Century"/>
                <a:sym typeface="Twentieth Century"/>
              </a:rPr>
              <a:t>A compromise was reached to allow the expurgation of parts deemed offensive, but this was not universally enforced.</a:t>
            </a:r>
            <a:endParaRPr b="0" i="0" sz="1800" u="none" cap="none" strike="noStrike">
              <a:solidFill>
                <a:schemeClr val="dk1"/>
              </a:solidFill>
              <a:latin typeface="Twentieth Century"/>
              <a:ea typeface="Twentieth Century"/>
              <a:cs typeface="Twentieth Century"/>
              <a:sym typeface="Twentieth Century"/>
            </a:endParaRPr>
          </a:p>
          <a:p>
            <a:pPr indent="0" lvl="1" marL="114300" marR="0" rtl="0" algn="l">
              <a:lnSpc>
                <a:spcPct val="75000"/>
              </a:lnSpc>
              <a:spcBef>
                <a:spcPts val="18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title"/>
          </p:nvPr>
        </p:nvSpPr>
        <p:spPr>
          <a:xfrm>
            <a:off x="913775" y="618517"/>
            <a:ext cx="10364451" cy="10451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wentieth Century"/>
              <a:buNone/>
            </a:pPr>
            <a:r>
              <a:rPr b="1" lang="en-US"/>
              <a:t>OPPOSITIONS TO R.A. 1425 (RIZAL LAW) AND WHY</a:t>
            </a:r>
            <a:br>
              <a:rPr b="1" lang="en-US"/>
            </a:br>
            <a:endParaRPr/>
          </a:p>
        </p:txBody>
      </p:sp>
      <p:sp>
        <p:nvSpPr>
          <p:cNvPr id="239" name="Google Shape;239;p31"/>
          <p:cNvSpPr txBox="1"/>
          <p:nvPr>
            <p:ph idx="1" type="body"/>
          </p:nvPr>
        </p:nvSpPr>
        <p:spPr>
          <a:xfrm>
            <a:off x="913774" y="1663700"/>
            <a:ext cx="10363826" cy="4127499"/>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SzPct val="100000"/>
              <a:buChar char="•"/>
            </a:pPr>
            <a:r>
              <a:rPr b="1" lang="en-US"/>
              <a:t>1. CATHOLIC CHURCH LEADERS</a:t>
            </a:r>
            <a:endParaRPr/>
          </a:p>
          <a:p>
            <a:pPr indent="-228600" lvl="1" marL="685800" rtl="0" algn="l">
              <a:lnSpc>
                <a:spcPct val="120000"/>
              </a:lnSpc>
              <a:spcBef>
                <a:spcPts val="500"/>
              </a:spcBef>
              <a:spcAft>
                <a:spcPts val="0"/>
              </a:spcAft>
              <a:buSzPct val="100000"/>
              <a:buChar char="•"/>
            </a:pPr>
            <a:r>
              <a:rPr lang="en-US"/>
              <a:t>THEY STRONGLY OPPOSED THE RIZAL BILL BECAUSE </a:t>
            </a:r>
            <a:r>
              <a:rPr i="1" lang="en-US"/>
              <a:t>NOLI ME TANGERE</a:t>
            </a:r>
            <a:r>
              <a:rPr lang="en-US"/>
              <a:t> AND </a:t>
            </a:r>
            <a:r>
              <a:rPr i="1" lang="en-US"/>
              <a:t>EL FILIBUSTERISMO</a:t>
            </a:r>
            <a:r>
              <a:rPr lang="en-US"/>
              <a:t> </a:t>
            </a:r>
            <a:r>
              <a:rPr b="1" lang="en-US"/>
              <a:t>CRITICIZED FRIARS AND CLERGY ABUSES</a:t>
            </a:r>
            <a:r>
              <a:rPr lang="en-US"/>
              <a:t> DURING SPANISH RULE.</a:t>
            </a:r>
            <a:endParaRPr/>
          </a:p>
          <a:p>
            <a:pPr indent="-228600" lvl="1" marL="685800" rtl="0" algn="l">
              <a:lnSpc>
                <a:spcPct val="120000"/>
              </a:lnSpc>
              <a:spcBef>
                <a:spcPts val="500"/>
              </a:spcBef>
              <a:spcAft>
                <a:spcPts val="0"/>
              </a:spcAft>
              <a:buSzPct val="100000"/>
              <a:buChar char="•"/>
            </a:pPr>
            <a:r>
              <a:rPr lang="en-US"/>
              <a:t>THE CHURCH FEARED THE BOOKS WOULD </a:t>
            </a:r>
            <a:r>
              <a:rPr b="1" lang="en-US"/>
              <a:t>WEAKEN THE CATHOLIC FAITH</a:t>
            </a:r>
            <a:r>
              <a:rPr lang="en-US"/>
              <a:t> OF YOUNG STUDENTS IF READ IN THEIR UNEXPURGATED (UNCENSORED) FORM.</a:t>
            </a:r>
            <a:endParaRPr/>
          </a:p>
          <a:p>
            <a:pPr indent="-228600" lvl="0" marL="228600" rtl="0" algn="l">
              <a:lnSpc>
                <a:spcPct val="120000"/>
              </a:lnSpc>
              <a:spcBef>
                <a:spcPts val="1000"/>
              </a:spcBef>
              <a:spcAft>
                <a:spcPts val="0"/>
              </a:spcAft>
              <a:buSzPct val="100000"/>
              <a:buChar char="•"/>
            </a:pPr>
            <a:r>
              <a:rPr b="1" lang="en-US"/>
              <a:t>2. CATHOLIC EDUCATIONAL INSTITUTIONS</a:t>
            </a:r>
            <a:endParaRPr/>
          </a:p>
          <a:p>
            <a:pPr indent="-228600" lvl="1" marL="685800" rtl="0" algn="l">
              <a:lnSpc>
                <a:spcPct val="120000"/>
              </a:lnSpc>
              <a:spcBef>
                <a:spcPts val="500"/>
              </a:spcBef>
              <a:spcAft>
                <a:spcPts val="0"/>
              </a:spcAft>
              <a:buSzPct val="100000"/>
              <a:buChar char="•"/>
            </a:pPr>
            <a:r>
              <a:rPr lang="en-US"/>
              <a:t>SCHOOLS RUN BY RELIGIOUS ORDERS BELIEVED THAT REQUIRING STUDENTS TO READ RIZAL’S NOVELS WOULD </a:t>
            </a:r>
            <a:r>
              <a:rPr b="1" lang="en-US"/>
              <a:t>GO AGAINST CATHOLIC TEACHINGS</a:t>
            </a:r>
            <a:r>
              <a:rPr lang="en-US"/>
              <a:t>.</a:t>
            </a:r>
            <a:endParaRPr/>
          </a:p>
          <a:p>
            <a:pPr indent="-228600" lvl="1" marL="685800" rtl="0" algn="l">
              <a:lnSpc>
                <a:spcPct val="120000"/>
              </a:lnSpc>
              <a:spcBef>
                <a:spcPts val="500"/>
              </a:spcBef>
              <a:spcAft>
                <a:spcPts val="0"/>
              </a:spcAft>
              <a:buSzPct val="100000"/>
              <a:buChar char="•"/>
            </a:pPr>
            <a:r>
              <a:rPr lang="en-US"/>
              <a:t>THEY EVEN THREATENED TO </a:t>
            </a:r>
            <a:r>
              <a:rPr b="1" lang="en-US"/>
              <a:t>CLOSE CATHOLIC SCHOOLS</a:t>
            </a:r>
            <a:r>
              <a:rPr lang="en-US"/>
              <a:t> IF THE LAW WAS IMPLEMENTED.</a:t>
            </a:r>
            <a:endParaRPr/>
          </a:p>
          <a:p>
            <a:pPr indent="-228600" lvl="0" marL="228600" rtl="0" algn="l">
              <a:lnSpc>
                <a:spcPct val="120000"/>
              </a:lnSpc>
              <a:spcBef>
                <a:spcPts val="1000"/>
              </a:spcBef>
              <a:spcAft>
                <a:spcPts val="0"/>
              </a:spcAft>
              <a:buSzPct val="100000"/>
              <a:buChar char="•"/>
            </a:pPr>
            <a:r>
              <a:rPr b="1" lang="en-US"/>
              <a:t>3. CATHOLIC ACTION OF THE PHILIPPINES (LAY GROUP)</a:t>
            </a:r>
            <a:endParaRPr/>
          </a:p>
          <a:p>
            <a:pPr indent="-228600" lvl="1" marL="685800" rtl="0" algn="l">
              <a:lnSpc>
                <a:spcPct val="120000"/>
              </a:lnSpc>
              <a:spcBef>
                <a:spcPts val="500"/>
              </a:spcBef>
              <a:spcAft>
                <a:spcPts val="0"/>
              </a:spcAft>
              <a:buSzPct val="100000"/>
              <a:buChar char="•"/>
            </a:pPr>
            <a:r>
              <a:rPr lang="en-US"/>
              <a:t>ARGUED THAT MAKING RIZAL’S NOVELS MANDATORY WAS </a:t>
            </a:r>
            <a:r>
              <a:rPr b="1" lang="en-US"/>
              <a:t>ANTI-CATHOLIC</a:t>
            </a:r>
            <a:r>
              <a:rPr lang="en-US"/>
              <a:t> AND VIOLATED THE </a:t>
            </a:r>
            <a:r>
              <a:rPr b="1" lang="en-US"/>
              <a:t>FREEDOM OF RELIGION AND CONSCIENCE</a:t>
            </a:r>
            <a:r>
              <a:rPr lang="en-US"/>
              <a:t>.</a:t>
            </a:r>
            <a:endParaRPr/>
          </a:p>
          <a:p>
            <a:pPr indent="-111125" lvl="0" marL="228600" rtl="0" algn="l">
              <a:lnSpc>
                <a:spcPct val="120000"/>
              </a:lnSpc>
              <a:spcBef>
                <a:spcPts val="1000"/>
              </a:spcBef>
              <a:spcAft>
                <a:spcPts val="0"/>
              </a:spcAft>
              <a:buSzPct val="100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2"/>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t/>
            </a:r>
            <a:endParaRPr/>
          </a:p>
        </p:txBody>
      </p:sp>
      <p:sp>
        <p:nvSpPr>
          <p:cNvPr id="245" name="Google Shape;245;p32"/>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120000"/>
              </a:lnSpc>
              <a:spcBef>
                <a:spcPts val="0"/>
              </a:spcBef>
              <a:spcAft>
                <a:spcPts val="0"/>
              </a:spcAft>
              <a:buSzPct val="100000"/>
              <a:buChar char="•"/>
            </a:pPr>
            <a:r>
              <a:rPr b="1" lang="en-US"/>
              <a:t>4. CATHOLIC BISHOPS’ CONFERENCE OF THE PHILIPPINES (CBCP)</a:t>
            </a:r>
            <a:endParaRPr/>
          </a:p>
          <a:p>
            <a:pPr indent="-228600" lvl="1" marL="685800" rtl="0" algn="l">
              <a:lnSpc>
                <a:spcPct val="120000"/>
              </a:lnSpc>
              <a:spcBef>
                <a:spcPts val="500"/>
              </a:spcBef>
              <a:spcAft>
                <a:spcPts val="0"/>
              </a:spcAft>
              <a:buSzPct val="100000"/>
              <a:buChar char="•"/>
            </a:pPr>
            <a:r>
              <a:rPr lang="en-US"/>
              <a:t>ISSUED A </a:t>
            </a:r>
            <a:r>
              <a:rPr b="1" lang="en-US"/>
              <a:t>PASTORAL LETTER</a:t>
            </a:r>
            <a:r>
              <a:rPr lang="en-US"/>
              <a:t> DECLARING THAT THE RIZAL BILL </a:t>
            </a:r>
            <a:r>
              <a:rPr b="1" lang="en-US"/>
              <a:t>DESECRATED CANON LAW NO. 1399</a:t>
            </a:r>
            <a:r>
              <a:rPr lang="en-US"/>
              <a:t>, WHICH PROHIBITED BOOKS THAT MOCK OR CONTRADICT CATHOLIC DOCTRINE AND PRACTICES.</a:t>
            </a:r>
            <a:endParaRPr/>
          </a:p>
          <a:p>
            <a:pPr indent="-228600" lvl="1" marL="685800" rtl="0" algn="l">
              <a:lnSpc>
                <a:spcPct val="120000"/>
              </a:lnSpc>
              <a:spcBef>
                <a:spcPts val="500"/>
              </a:spcBef>
              <a:spcAft>
                <a:spcPts val="0"/>
              </a:spcAft>
              <a:buSzPct val="100000"/>
              <a:buChar char="•"/>
            </a:pPr>
            <a:r>
              <a:rPr lang="en-US"/>
              <a:t>ACCORDING TO THEIR EXAMINATION:</a:t>
            </a:r>
            <a:endParaRPr/>
          </a:p>
          <a:p>
            <a:pPr indent="-228600" lvl="2" marL="1143000" rtl="0" algn="l">
              <a:lnSpc>
                <a:spcPct val="120000"/>
              </a:lnSpc>
              <a:spcBef>
                <a:spcPts val="500"/>
              </a:spcBef>
              <a:spcAft>
                <a:spcPts val="0"/>
              </a:spcAft>
              <a:buSzPct val="100000"/>
              <a:buChar char="•"/>
            </a:pPr>
            <a:r>
              <a:rPr i="1" lang="en-US"/>
              <a:t>NOLI ME TANGERE</a:t>
            </a:r>
            <a:r>
              <a:rPr lang="en-US"/>
              <a:t> HAS </a:t>
            </a:r>
            <a:r>
              <a:rPr b="1" lang="en-US"/>
              <a:t>333 PAGES</a:t>
            </a:r>
            <a:r>
              <a:rPr lang="en-US"/>
              <a:t>, OF WHICH ONLY </a:t>
            </a:r>
            <a:r>
              <a:rPr b="1" lang="en-US"/>
              <a:t>25 PAGES WERE NATIONALISTIC</a:t>
            </a:r>
            <a:r>
              <a:rPr lang="en-US"/>
              <a:t>, WHILE </a:t>
            </a:r>
            <a:r>
              <a:rPr b="1" lang="en-US"/>
              <a:t>120 PAGES WERE ANTI-CATHOLIC AND ANTI-FRIAR</a:t>
            </a:r>
            <a:r>
              <a:rPr lang="en-US"/>
              <a:t>.</a:t>
            </a:r>
            <a:endParaRPr/>
          </a:p>
          <a:p>
            <a:pPr indent="-228600" lvl="2" marL="1143000" rtl="0" algn="l">
              <a:lnSpc>
                <a:spcPct val="120000"/>
              </a:lnSpc>
              <a:spcBef>
                <a:spcPts val="500"/>
              </a:spcBef>
              <a:spcAft>
                <a:spcPts val="0"/>
              </a:spcAft>
              <a:buSzPct val="100000"/>
              <a:buChar char="•"/>
            </a:pPr>
            <a:r>
              <a:rPr lang="en-US"/>
              <a:t>THE CHURCH CENSOR FURTHER CONCLUDED THAT </a:t>
            </a:r>
            <a:r>
              <a:rPr b="1" lang="en-US"/>
              <a:t>170 PAGES OF </a:t>
            </a:r>
            <a:r>
              <a:rPr b="1" i="1" lang="en-US"/>
              <a:t>NOLI ME TANGERE</a:t>
            </a:r>
            <a:r>
              <a:rPr lang="en-US"/>
              <a:t> WERE “HIGHLY AGAINST THE CATHOLIC FAITH,” WHILE </a:t>
            </a:r>
            <a:r>
              <a:rPr b="1" lang="en-US"/>
              <a:t>50 PAGES OF </a:t>
            </a:r>
            <a:r>
              <a:rPr b="1" i="1" lang="en-US"/>
              <a:t>EL FILIBUSTERISMO</a:t>
            </a:r>
            <a:r>
              <a:rPr lang="en-US"/>
              <a:t> CONTAINED HERESY.</a:t>
            </a:r>
            <a:endParaRPr/>
          </a:p>
          <a:p>
            <a:pPr indent="-228600" lvl="0" marL="228600" rtl="0" algn="l">
              <a:lnSpc>
                <a:spcPct val="120000"/>
              </a:lnSpc>
              <a:spcBef>
                <a:spcPts val="1000"/>
              </a:spcBef>
              <a:spcAft>
                <a:spcPts val="0"/>
              </a:spcAft>
              <a:buSzPct val="100000"/>
              <a:buChar char="•"/>
            </a:pPr>
            <a:r>
              <a:rPr b="1" lang="en-US"/>
              <a:t>5. CONSERVATIVE POLITICIANS ALLIED WITH THE CHURCH</a:t>
            </a:r>
            <a:endParaRPr/>
          </a:p>
          <a:p>
            <a:pPr indent="-228600" lvl="1" marL="685800" rtl="0" algn="l">
              <a:lnSpc>
                <a:spcPct val="120000"/>
              </a:lnSpc>
              <a:spcBef>
                <a:spcPts val="500"/>
              </a:spcBef>
              <a:spcAft>
                <a:spcPts val="0"/>
              </a:spcAft>
              <a:buSzPct val="100000"/>
              <a:buChar char="•"/>
            </a:pPr>
            <a:r>
              <a:rPr lang="en-US"/>
              <a:t>OPPOSED THE BILL, SIDING WITH THE BISHOPS AND FEARING A </a:t>
            </a:r>
            <a:r>
              <a:rPr b="1" lang="en-US"/>
              <a:t>CLASH BETWEEN THE STATE AND THE CHURCH</a:t>
            </a:r>
            <a:r>
              <a:rPr lang="en-US"/>
              <a:t>.</a:t>
            </a:r>
            <a:endParaRPr/>
          </a:p>
          <a:p>
            <a:pPr indent="-228600" lvl="1" marL="685800" rtl="0" algn="l">
              <a:lnSpc>
                <a:spcPct val="120000"/>
              </a:lnSpc>
              <a:spcBef>
                <a:spcPts val="500"/>
              </a:spcBef>
              <a:spcAft>
                <a:spcPts val="0"/>
              </a:spcAft>
              <a:buSzPct val="100000"/>
              <a:buChar char="•"/>
            </a:pPr>
            <a:r>
              <a:rPr lang="en-US"/>
              <a:t>THEY ARGUED IT WOULD PROVOKE CONFLICT SINCE THE CONSTITUTION GUARANTEED FREEDOM OF RELIGION.</a:t>
            </a:r>
            <a:endParaRPr/>
          </a:p>
          <a:p>
            <a:pPr indent="-120650" lvl="0" marL="228600" rtl="0" algn="l">
              <a:lnSpc>
                <a:spcPct val="120000"/>
              </a:lnSpc>
              <a:spcBef>
                <a:spcPts val="1000"/>
              </a:spcBef>
              <a:spcAft>
                <a:spcPts val="0"/>
              </a:spcAft>
              <a:buSzPct val="100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b="1" lang="en-US"/>
              <a:t>SUMMARY OF OPPOSITION REASONS</a:t>
            </a:r>
            <a:br>
              <a:rPr b="1" lang="en-US"/>
            </a:br>
            <a:endParaRPr/>
          </a:p>
        </p:txBody>
      </p:sp>
      <p:sp>
        <p:nvSpPr>
          <p:cNvPr id="251" name="Google Shape;251;p33"/>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RIZAL’S NOVELS </a:t>
            </a:r>
            <a:r>
              <a:rPr b="1" lang="en-US"/>
              <a:t>ATTACKED THE CLERGY</a:t>
            </a:r>
            <a:r>
              <a:rPr lang="en-US"/>
              <a:t> AND MOCKED CATHOLIC PRACTICES.</a:t>
            </a:r>
            <a:endParaRPr/>
          </a:p>
          <a:p>
            <a:pPr indent="-228600" lvl="0" marL="228600" rtl="0" algn="l">
              <a:lnSpc>
                <a:spcPct val="120000"/>
              </a:lnSpc>
              <a:spcBef>
                <a:spcPts val="1000"/>
              </a:spcBef>
              <a:spcAft>
                <a:spcPts val="0"/>
              </a:spcAft>
              <a:buSzPts val="2000"/>
              <a:buChar char="•"/>
            </a:pPr>
            <a:r>
              <a:rPr lang="en-US"/>
              <a:t>FEAR THAT STUDENTS’ </a:t>
            </a:r>
            <a:r>
              <a:rPr b="1" lang="en-US"/>
              <a:t>FAITH WOULD BE WEAKENED</a:t>
            </a:r>
            <a:r>
              <a:rPr lang="en-US"/>
              <a:t>.</a:t>
            </a:r>
            <a:endParaRPr/>
          </a:p>
          <a:p>
            <a:pPr indent="-228600" lvl="0" marL="228600" rtl="0" algn="l">
              <a:lnSpc>
                <a:spcPct val="120000"/>
              </a:lnSpc>
              <a:spcBef>
                <a:spcPts val="1000"/>
              </a:spcBef>
              <a:spcAft>
                <a:spcPts val="0"/>
              </a:spcAft>
              <a:buSzPts val="2000"/>
              <a:buChar char="•"/>
            </a:pPr>
            <a:r>
              <a:rPr lang="en-US"/>
              <a:t>BELIEF THAT THE LAW </a:t>
            </a:r>
            <a:r>
              <a:rPr b="1" lang="en-US"/>
              <a:t>VIOLATED FREEDOM OF RELIGION AND CONSCIENCE</a:t>
            </a:r>
            <a:r>
              <a:rPr lang="en-US"/>
              <a:t>.</a:t>
            </a:r>
            <a:endParaRPr/>
          </a:p>
          <a:p>
            <a:pPr indent="-228600" lvl="0" marL="228600" rtl="0" algn="l">
              <a:lnSpc>
                <a:spcPct val="120000"/>
              </a:lnSpc>
              <a:spcBef>
                <a:spcPts val="1000"/>
              </a:spcBef>
              <a:spcAft>
                <a:spcPts val="0"/>
              </a:spcAft>
              <a:buSzPts val="2000"/>
              <a:buChar char="•"/>
            </a:pPr>
            <a:r>
              <a:rPr b="1" lang="en-US"/>
              <a:t>CANON LAW 1399</a:t>
            </a:r>
            <a:r>
              <a:rPr lang="en-US"/>
              <a:t> PROHIBITS SUCH BOOKS.</a:t>
            </a:r>
            <a:endParaRPr/>
          </a:p>
          <a:p>
            <a:pPr indent="-228600" lvl="0" marL="228600" rtl="0" algn="l">
              <a:lnSpc>
                <a:spcPct val="120000"/>
              </a:lnSpc>
              <a:spcBef>
                <a:spcPts val="1000"/>
              </a:spcBef>
              <a:spcAft>
                <a:spcPts val="0"/>
              </a:spcAft>
              <a:buSzPts val="2000"/>
              <a:buChar char="•"/>
            </a:pPr>
            <a:r>
              <a:rPr lang="en-US"/>
              <a:t>CHURCH CENSORS CLAIMED LARGE PORTIONS OF </a:t>
            </a:r>
            <a:r>
              <a:rPr i="1" lang="en-US"/>
              <a:t>NOLI</a:t>
            </a:r>
            <a:r>
              <a:rPr lang="en-US"/>
              <a:t> AND </a:t>
            </a:r>
            <a:r>
              <a:rPr i="1" lang="en-US"/>
              <a:t>EL FILI</a:t>
            </a:r>
            <a:r>
              <a:rPr lang="en-US"/>
              <a:t> WERE HERETICAL OR ANTI-CATHOLIC.</a:t>
            </a:r>
            <a:endParaRPr/>
          </a:p>
          <a:p>
            <a:pPr indent="-228600" lvl="0" marL="228600" rtl="0" algn="l">
              <a:lnSpc>
                <a:spcPct val="120000"/>
              </a:lnSpc>
              <a:spcBef>
                <a:spcPts val="1000"/>
              </a:spcBef>
              <a:spcAft>
                <a:spcPts val="0"/>
              </a:spcAft>
              <a:buSzPts val="2000"/>
              <a:buChar char="•"/>
            </a:pPr>
            <a:r>
              <a:rPr lang="en-US"/>
              <a:t>THREAT OF </a:t>
            </a:r>
            <a:r>
              <a:rPr b="1" lang="en-US"/>
              <a:t>CLOSING CATHOLIC SCHOOLS</a:t>
            </a:r>
            <a:r>
              <a:rPr lang="en-US"/>
              <a:t> IF THE LAW PASSED.</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4"/>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b="1" lang="en-US"/>
              <a:t>SIGNIFICANCE OF RA 1425</a:t>
            </a:r>
            <a:endParaRPr/>
          </a:p>
        </p:txBody>
      </p:sp>
      <p:graphicFrame>
        <p:nvGraphicFramePr>
          <p:cNvPr id="257" name="Google Shape;257;p34"/>
          <p:cNvGraphicFramePr/>
          <p:nvPr/>
        </p:nvGraphicFramePr>
        <p:xfrm>
          <a:off x="914400" y="2366962"/>
          <a:ext cx="3000000" cy="3000000"/>
        </p:xfrm>
        <a:graphic>
          <a:graphicData uri="http://schemas.openxmlformats.org/drawingml/2006/table">
            <a:tbl>
              <a:tblPr bandRow="1" firstRow="1">
                <a:noFill/>
                <a:tableStyleId>{60CB97B1-1977-42D9-90AB-B3804BBD066F}</a:tableStyleId>
              </a:tblPr>
              <a:tblGrid>
                <a:gridCol w="3454400"/>
                <a:gridCol w="3454400"/>
                <a:gridCol w="3454400"/>
              </a:tblGrid>
              <a:tr h="817250">
                <a:tc>
                  <a:txBody>
                    <a:bodyPr/>
                    <a:lstStyle/>
                    <a:p>
                      <a:pPr indent="0" lvl="0" marL="0" marR="0" rtl="0" algn="l">
                        <a:spcBef>
                          <a:spcPts val="0"/>
                        </a:spcBef>
                        <a:spcAft>
                          <a:spcPts val="0"/>
                        </a:spcAft>
                        <a:buNone/>
                      </a:pPr>
                      <a:r>
                        <a:rPr lang="en-US" sz="2800"/>
                        <a:t>LEGACY OF JOSE RIZAL</a:t>
                      </a:r>
                      <a:r>
                        <a:rPr lang="en-US" sz="2800"/>
                        <a:t> </a:t>
                      </a:r>
                      <a:endParaRPr sz="2800"/>
                    </a:p>
                  </a:txBody>
                  <a:tcPr marT="45725" marB="45725" marR="91450" marL="91450"/>
                </a:tc>
                <a:tc>
                  <a:txBody>
                    <a:bodyPr/>
                    <a:lstStyle/>
                    <a:p>
                      <a:pPr indent="0" lvl="0" marL="0" marR="0" rtl="0" algn="l">
                        <a:spcBef>
                          <a:spcPts val="0"/>
                        </a:spcBef>
                        <a:spcAft>
                          <a:spcPts val="0"/>
                        </a:spcAft>
                        <a:buNone/>
                      </a:pPr>
                      <a:r>
                        <a:rPr lang="en-US" sz="2800"/>
                        <a:t>NATIONAL IDENTITY</a:t>
                      </a:r>
                      <a:endParaRPr sz="2800"/>
                    </a:p>
                  </a:txBody>
                  <a:tcPr marT="45725" marB="45725" marR="91450" marL="91450"/>
                </a:tc>
                <a:tc>
                  <a:txBody>
                    <a:bodyPr/>
                    <a:lstStyle/>
                    <a:p>
                      <a:pPr indent="0" lvl="0" marL="0" marR="0" rtl="0" algn="l">
                        <a:spcBef>
                          <a:spcPts val="0"/>
                        </a:spcBef>
                        <a:spcAft>
                          <a:spcPts val="0"/>
                        </a:spcAft>
                        <a:buNone/>
                      </a:pPr>
                      <a:r>
                        <a:rPr lang="en-US" sz="2800"/>
                        <a:t>EDUCATIONAL IMPACT</a:t>
                      </a:r>
                      <a:endParaRPr sz="2800"/>
                    </a:p>
                  </a:txBody>
                  <a:tcPr marT="45725" marB="45725" marR="91450" marL="91450"/>
                </a:tc>
              </a:tr>
              <a:tr h="2619675">
                <a:tc>
                  <a:txBody>
                    <a:bodyPr/>
                    <a:lstStyle/>
                    <a:p>
                      <a:pPr indent="0" lvl="0" marL="0" marR="0" rtl="0" algn="l">
                        <a:spcBef>
                          <a:spcPts val="0"/>
                        </a:spcBef>
                        <a:spcAft>
                          <a:spcPts val="0"/>
                        </a:spcAft>
                        <a:buNone/>
                      </a:pPr>
                      <a:r>
                        <a:rPr lang="en-US" sz="2400"/>
                        <a:t>Ensures Rizal's contributions to Philippine independence are remembered and appreciated.</a:t>
                      </a:r>
                      <a:endParaRPr sz="2400"/>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Twentieth Century"/>
                        <a:buNone/>
                      </a:pPr>
                      <a:r>
                        <a:rPr lang="en-US" sz="2400"/>
                        <a:t>Strengthens the national identity by teaching the values of sacrifice, freedom, and love for the country.</a:t>
                      </a:r>
                      <a:endParaRPr/>
                    </a:p>
                    <a:p>
                      <a:pPr indent="0" lvl="0" marL="0" marR="0" rtl="0" algn="l">
                        <a:spcBef>
                          <a:spcPts val="0"/>
                        </a:spcBef>
                        <a:spcAft>
                          <a:spcPts val="0"/>
                        </a:spcAft>
                        <a:buNone/>
                      </a:pPr>
                      <a:r>
                        <a:t/>
                      </a:r>
                      <a:endParaRPr sz="2400"/>
                    </a:p>
                  </a:txBody>
                  <a:tcPr marT="45725" marB="45725" marR="91450" marL="91450"/>
                </a:tc>
                <a:tc>
                  <a:txBody>
                    <a:bodyPr/>
                    <a:lstStyle/>
                    <a:p>
                      <a:pPr indent="0" lvl="0" marL="0" marR="0" rtl="0" algn="l">
                        <a:spcBef>
                          <a:spcPts val="0"/>
                        </a:spcBef>
                        <a:spcAft>
                          <a:spcPts val="0"/>
                        </a:spcAft>
                        <a:buNone/>
                      </a:pPr>
                      <a:r>
                        <a:rPr lang="en-US" sz="2400"/>
                        <a:t>A 1425 remains a cornerstone of the Philippine educational system, shaping the minds of future generations.</a:t>
                      </a:r>
                      <a:endParaRPr sz="2400"/>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b="1" lang="en-US"/>
              <a:t>SUPPORTERS OF R.A. 1425 (PRO-RIZAL LAW SIDE)</a:t>
            </a:r>
            <a:endParaRPr/>
          </a:p>
        </p:txBody>
      </p:sp>
      <p:sp>
        <p:nvSpPr>
          <p:cNvPr id="263" name="Google Shape;263;p35"/>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20000"/>
              </a:lnSpc>
              <a:spcBef>
                <a:spcPts val="0"/>
              </a:spcBef>
              <a:spcAft>
                <a:spcPts val="0"/>
              </a:spcAft>
              <a:buSzPct val="111111"/>
              <a:buChar char="•"/>
            </a:pPr>
            <a:r>
              <a:rPr b="1" lang="en-US"/>
              <a:t>SENATOR CLARO M. RECTO (PRINCIPAL AUTHOR)</a:t>
            </a:r>
            <a:endParaRPr sz="1800"/>
          </a:p>
          <a:p>
            <a:pPr indent="-228600" lvl="1" marL="685800" rtl="0" algn="l">
              <a:lnSpc>
                <a:spcPct val="120000"/>
              </a:lnSpc>
              <a:spcBef>
                <a:spcPts val="500"/>
              </a:spcBef>
              <a:spcAft>
                <a:spcPts val="0"/>
              </a:spcAft>
              <a:buSzPct val="112500"/>
              <a:buChar char="•"/>
            </a:pPr>
            <a:r>
              <a:rPr lang="en-US"/>
              <a:t>BELIEVED RIZAL’S LIFE AND WRITINGS WERE </a:t>
            </a:r>
            <a:r>
              <a:rPr b="1" lang="en-US"/>
              <a:t>ESSENTIAL FOR NATION-BUILDING</a:t>
            </a:r>
            <a:r>
              <a:rPr lang="en-US"/>
              <a:t>.</a:t>
            </a:r>
            <a:endParaRPr sz="1600"/>
          </a:p>
          <a:p>
            <a:pPr indent="-228600" lvl="1" marL="685800" rtl="0" algn="l">
              <a:lnSpc>
                <a:spcPct val="120000"/>
              </a:lnSpc>
              <a:spcBef>
                <a:spcPts val="500"/>
              </a:spcBef>
              <a:spcAft>
                <a:spcPts val="0"/>
              </a:spcAft>
              <a:buSzPct val="112500"/>
              <a:buChar char="•"/>
            </a:pPr>
            <a:r>
              <a:rPr lang="en-US"/>
              <a:t>ARGUED THE BILL WAS </a:t>
            </a:r>
            <a:r>
              <a:rPr b="1" lang="en-US"/>
              <a:t>NOT ANTI-CATHOLIC</a:t>
            </a:r>
            <a:r>
              <a:rPr lang="en-US"/>
              <a:t> BUT PRO-FILIPINO, AIMED AT INSTILLING NATIONALISM.</a:t>
            </a:r>
            <a:endParaRPr sz="1600"/>
          </a:p>
          <a:p>
            <a:pPr indent="-228600" lvl="1" marL="685800" rtl="0" algn="l">
              <a:lnSpc>
                <a:spcPct val="120000"/>
              </a:lnSpc>
              <a:spcBef>
                <a:spcPts val="500"/>
              </a:spcBef>
              <a:spcAft>
                <a:spcPts val="0"/>
              </a:spcAft>
              <a:buSzPct val="112500"/>
              <a:buChar char="•"/>
            </a:pPr>
            <a:r>
              <a:rPr lang="en-US"/>
              <a:t>STATED: “IF RIZAL WERE ALIVE TODAY, HE WOULD BE THE FIRST TO AGREE THAT HIS WRITINGS SHOULD BE READ BY OUR YOUTH.”</a:t>
            </a:r>
            <a:endParaRPr sz="1600"/>
          </a:p>
          <a:p>
            <a:pPr indent="-228600" lvl="0" marL="228600" rtl="0" algn="l">
              <a:lnSpc>
                <a:spcPct val="120000"/>
              </a:lnSpc>
              <a:spcBef>
                <a:spcPts val="1000"/>
              </a:spcBef>
              <a:spcAft>
                <a:spcPts val="0"/>
              </a:spcAft>
              <a:buSzPct val="111111"/>
              <a:buChar char="•"/>
            </a:pPr>
            <a:r>
              <a:rPr b="1" lang="en-US"/>
              <a:t>SENATOR JOSE P. LAUREL (CHAIR, EDUCATION COMMITTEE)</a:t>
            </a:r>
            <a:endParaRPr sz="1800"/>
          </a:p>
          <a:p>
            <a:pPr indent="-228600" lvl="1" marL="685800" rtl="0" algn="l">
              <a:lnSpc>
                <a:spcPct val="120000"/>
              </a:lnSpc>
              <a:spcBef>
                <a:spcPts val="500"/>
              </a:spcBef>
              <a:spcAft>
                <a:spcPts val="0"/>
              </a:spcAft>
              <a:buSzPct val="112500"/>
              <a:buChar char="•"/>
            </a:pPr>
            <a:r>
              <a:rPr lang="en-US"/>
              <a:t>DEFENDED THE BILL IN THE SENATE AND NEGOTIATED A </a:t>
            </a:r>
            <a:r>
              <a:rPr b="1" lang="en-US"/>
              <a:t>COMPROMISE</a:t>
            </a:r>
            <a:r>
              <a:rPr lang="en-US"/>
              <a:t>.</a:t>
            </a:r>
            <a:endParaRPr sz="1600"/>
          </a:p>
          <a:p>
            <a:pPr indent="-228600" lvl="1" marL="685800" rtl="0" algn="l">
              <a:lnSpc>
                <a:spcPct val="120000"/>
              </a:lnSpc>
              <a:spcBef>
                <a:spcPts val="500"/>
              </a:spcBef>
              <a:spcAft>
                <a:spcPts val="0"/>
              </a:spcAft>
              <a:buSzPct val="112500"/>
              <a:buChar char="•"/>
            </a:pPr>
            <a:r>
              <a:rPr lang="en-US"/>
              <a:t>ENSURED STUDENTS WOULD STUDY RIZAL’S WORKS BUT ALLOWED </a:t>
            </a:r>
            <a:r>
              <a:rPr b="1" lang="en-US"/>
              <a:t>EXPURGATED VERSIONS</a:t>
            </a:r>
            <a:r>
              <a:rPr lang="en-US"/>
              <a:t> FOR YOUNGER STUDENTS, WITH UNEXPURGATED COPIES IN LIBRARIES.</a:t>
            </a:r>
            <a:endParaRPr sz="1600"/>
          </a:p>
          <a:p>
            <a:pPr indent="-111125" lvl="0" marL="228600" rtl="0" algn="l">
              <a:lnSpc>
                <a:spcPct val="120000"/>
              </a:lnSpc>
              <a:spcBef>
                <a:spcPts val="1000"/>
              </a:spcBef>
              <a:spcAft>
                <a:spcPts val="0"/>
              </a:spcAft>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type="title"/>
          </p:nvPr>
        </p:nvSpPr>
        <p:spPr>
          <a:xfrm>
            <a:off x="913775" y="618517"/>
            <a:ext cx="10364451" cy="5244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wentieth Century"/>
              <a:buNone/>
            </a:pPr>
            <a:r>
              <a:rPr b="1" lang="en-US"/>
              <a:t>SUPPORTERS OF R.A. 1425 (PRO-RIZAL LAW SIDE)</a:t>
            </a:r>
            <a:endParaRPr/>
          </a:p>
        </p:txBody>
      </p:sp>
      <p:sp>
        <p:nvSpPr>
          <p:cNvPr id="269" name="Google Shape;269;p36"/>
          <p:cNvSpPr txBox="1"/>
          <p:nvPr>
            <p:ph idx="1" type="body"/>
          </p:nvPr>
        </p:nvSpPr>
        <p:spPr>
          <a:xfrm>
            <a:off x="913774" y="1651000"/>
            <a:ext cx="10363826" cy="4140199"/>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SzPts val="2000"/>
              <a:buChar char="•"/>
            </a:pPr>
            <a:r>
              <a:rPr b="1" lang="en-US"/>
              <a:t>NATIONALIST GROUPS AND EDUCATORS</a:t>
            </a:r>
            <a:endParaRPr sz="1800"/>
          </a:p>
          <a:p>
            <a:pPr indent="-228600" lvl="1" marL="685800" rtl="0" algn="l">
              <a:lnSpc>
                <a:spcPct val="120000"/>
              </a:lnSpc>
              <a:spcBef>
                <a:spcPts val="500"/>
              </a:spcBef>
              <a:spcAft>
                <a:spcPts val="0"/>
              </a:spcAft>
              <a:buSzPts val="1800"/>
              <a:buChar char="•"/>
            </a:pPr>
            <a:r>
              <a:rPr lang="en-US"/>
              <a:t>SUPPORTED THE LAW TO </a:t>
            </a:r>
            <a:r>
              <a:rPr b="1" lang="en-US"/>
              <a:t>COUNTER COLONIAL MENTALITY</a:t>
            </a:r>
            <a:r>
              <a:rPr lang="en-US"/>
              <a:t> LINGERING AFTER SPANISH AND AMERICAN RULE.</a:t>
            </a:r>
            <a:endParaRPr sz="1600"/>
          </a:p>
          <a:p>
            <a:pPr indent="-228600" lvl="1" marL="685800" rtl="0" algn="l">
              <a:lnSpc>
                <a:spcPct val="120000"/>
              </a:lnSpc>
              <a:spcBef>
                <a:spcPts val="500"/>
              </a:spcBef>
              <a:spcAft>
                <a:spcPts val="0"/>
              </a:spcAft>
              <a:buSzPts val="1800"/>
              <a:buChar char="•"/>
            </a:pPr>
            <a:r>
              <a:rPr lang="en-US"/>
              <a:t>BELIEVED RIZAL’S IDEALS OF FREEDOM, PATRIOTISM, AND CIVIC VIRTUE WOULD STRENGTHEN FILIPINO IDENTITY.</a:t>
            </a:r>
            <a:endParaRPr sz="1600"/>
          </a:p>
          <a:p>
            <a:pPr indent="-228600" lvl="0" marL="228600" rtl="0" algn="l">
              <a:lnSpc>
                <a:spcPct val="120000"/>
              </a:lnSpc>
              <a:spcBef>
                <a:spcPts val="1000"/>
              </a:spcBef>
              <a:spcAft>
                <a:spcPts val="0"/>
              </a:spcAft>
              <a:buSzPts val="2000"/>
              <a:buChar char="•"/>
            </a:pPr>
            <a:r>
              <a:rPr b="1" lang="en-US"/>
              <a:t>STUDENT AND YOUTH MOVEMENTS</a:t>
            </a:r>
            <a:endParaRPr sz="1800"/>
          </a:p>
          <a:p>
            <a:pPr indent="-228600" lvl="1" marL="685800" rtl="0" algn="l">
              <a:lnSpc>
                <a:spcPct val="120000"/>
              </a:lnSpc>
              <a:spcBef>
                <a:spcPts val="500"/>
              </a:spcBef>
              <a:spcAft>
                <a:spcPts val="0"/>
              </a:spcAft>
              <a:buSzPts val="1800"/>
              <a:buChar char="•"/>
            </a:pPr>
            <a:r>
              <a:rPr lang="en-US"/>
              <a:t>BACKED THE LAW BECAUSE RIZAL WAS A </a:t>
            </a:r>
            <a:r>
              <a:rPr b="1" lang="en-US"/>
              <a:t>YOUTHFUL ROLE MODEL</a:t>
            </a:r>
            <a:r>
              <a:rPr lang="en-US"/>
              <a:t> WHO SACRIFICED HIS LIFE FOR THE COUNTRY.</a:t>
            </a:r>
            <a:endParaRPr sz="1600"/>
          </a:p>
          <a:p>
            <a:pPr indent="-228600" lvl="0" marL="228600" rtl="0" algn="l">
              <a:lnSpc>
                <a:spcPct val="120000"/>
              </a:lnSpc>
              <a:spcBef>
                <a:spcPts val="1000"/>
              </a:spcBef>
              <a:spcAft>
                <a:spcPts val="0"/>
              </a:spcAft>
              <a:buSzPts val="2000"/>
              <a:buChar char="•"/>
            </a:pPr>
            <a:r>
              <a:rPr b="1" lang="en-US"/>
              <a:t>PRESIDENT RAMON MAGSAYSAY (SIGNED INTO LAW, JUNE 12, 1956)</a:t>
            </a:r>
            <a:endParaRPr sz="1800"/>
          </a:p>
          <a:p>
            <a:pPr indent="-228600" lvl="1" marL="685800" rtl="0" algn="l">
              <a:lnSpc>
                <a:spcPct val="120000"/>
              </a:lnSpc>
              <a:spcBef>
                <a:spcPts val="500"/>
              </a:spcBef>
              <a:spcAft>
                <a:spcPts val="0"/>
              </a:spcAft>
              <a:buSzPts val="1800"/>
              <a:buChar char="•"/>
            </a:pPr>
            <a:r>
              <a:rPr lang="en-US"/>
              <a:t>APPROVED THE BILL AS A </a:t>
            </a:r>
            <a:r>
              <a:rPr b="1" lang="en-US"/>
              <a:t>COMPROMISE MEASURE</a:t>
            </a:r>
            <a:r>
              <a:rPr lang="en-US"/>
              <a:t> BALANCING NATIONALISM AND RELIGIOUS CONCERNS.</a:t>
            </a:r>
            <a:endParaRPr sz="1600"/>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7"/>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b="1" lang="en-US"/>
              <a:t>CONTEMPORARY RELEVANCE</a:t>
            </a:r>
            <a:endParaRPr/>
          </a:p>
        </p:txBody>
      </p:sp>
      <p:sp>
        <p:nvSpPr>
          <p:cNvPr id="275" name="Google Shape;275;p37"/>
          <p:cNvSpPr/>
          <p:nvPr/>
        </p:nvSpPr>
        <p:spPr>
          <a:xfrm>
            <a:off x="914400" y="2366963"/>
            <a:ext cx="10363200" cy="3424237"/>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77800" lvl="1" marL="114300" marR="0" rtl="0" algn="l">
              <a:lnSpc>
                <a:spcPct val="75000"/>
              </a:lnSpc>
              <a:spcBef>
                <a:spcPts val="0"/>
              </a:spcBef>
              <a:spcAft>
                <a:spcPts val="0"/>
              </a:spcAft>
              <a:buClr>
                <a:schemeClr val="dk1"/>
              </a:buClr>
              <a:buSzPts val="2800"/>
              <a:buFont typeface="Twentieth Century"/>
              <a:buChar char="•"/>
            </a:pPr>
            <a:r>
              <a:rPr b="1" i="0" lang="en-US" sz="2800" u="none" cap="none" strike="noStrike">
                <a:solidFill>
                  <a:schemeClr val="dk1"/>
                </a:solidFill>
                <a:latin typeface="Twentieth Century"/>
                <a:ea typeface="Twentieth Century"/>
                <a:cs typeface="Twentieth Century"/>
                <a:sym typeface="Twentieth Century"/>
              </a:rPr>
              <a:t>Continuing the Fight for Freedom </a:t>
            </a:r>
            <a:r>
              <a:rPr b="0" i="0" lang="en-US" sz="2200" u="none" cap="none" strike="noStrike">
                <a:solidFill>
                  <a:schemeClr val="dk1"/>
                </a:solidFill>
                <a:latin typeface="Twentieth Century"/>
                <a:ea typeface="Twentieth Century"/>
                <a:cs typeface="Twentieth Century"/>
                <a:sym typeface="Twentieth Century"/>
              </a:rPr>
              <a:t>How Rizal's writings continue to inspire contemporary movements for social justice and national sovereignty.</a:t>
            </a:r>
            <a:endParaRPr b="0" i="0" sz="2200" u="none" cap="none" strike="noStrike">
              <a:solidFill>
                <a:schemeClr val="dk1"/>
              </a:solidFill>
              <a:latin typeface="Twentieth Century"/>
              <a:ea typeface="Twentieth Century"/>
              <a:cs typeface="Twentieth Century"/>
              <a:sym typeface="Twentieth Century"/>
            </a:endParaRPr>
          </a:p>
          <a:p>
            <a:pPr indent="0" lvl="1" marL="114300" marR="0" rtl="0" algn="l">
              <a:lnSpc>
                <a:spcPct val="75000"/>
              </a:lnSpc>
              <a:spcBef>
                <a:spcPts val="28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114300" lvl="1" marL="114300" marR="0" rtl="0" algn="l">
              <a:lnSpc>
                <a:spcPct val="75000"/>
              </a:lnSpc>
              <a:spcBef>
                <a:spcPts val="180"/>
              </a:spcBef>
              <a:spcAft>
                <a:spcPts val="0"/>
              </a:spcAft>
              <a:buClr>
                <a:schemeClr val="dk1"/>
              </a:buClr>
              <a:buSzPts val="1800"/>
              <a:buFont typeface="Twentieth Century"/>
              <a:buChar char="•"/>
            </a:pPr>
            <a:r>
              <a:rPr b="1" i="0" lang="en-US" sz="1800" u="none" cap="none" strike="noStrike">
                <a:solidFill>
                  <a:schemeClr val="dk1"/>
                </a:solidFill>
                <a:latin typeface="Twentieth Century"/>
                <a:ea typeface="Twentieth Century"/>
                <a:cs typeface="Twentieth Century"/>
                <a:sym typeface="Twentieth Century"/>
              </a:rPr>
              <a:t>Challenges </a:t>
            </a:r>
            <a:r>
              <a:rPr b="0" i="0" lang="en-US" sz="1800" u="none" cap="none" strike="noStrike">
                <a:solidFill>
                  <a:schemeClr val="dk1"/>
                </a:solidFill>
                <a:latin typeface="Twentieth Century"/>
                <a:ea typeface="Twentieth Century"/>
                <a:cs typeface="Twentieth Century"/>
                <a:sym typeface="Twentieth Century"/>
              </a:rPr>
              <a:t>Addressing the decline in interest among the youth in learning about Rizal and his contributions.</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8"/>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b="1" lang="en-US"/>
              <a:t>III. CHOOSING THE NATIONAL HERO</a:t>
            </a:r>
            <a:endParaRPr/>
          </a:p>
        </p:txBody>
      </p:sp>
      <p:sp>
        <p:nvSpPr>
          <p:cNvPr id="281" name="Google Shape;281;p38"/>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SzPct val="100000"/>
              <a:buChar char="•"/>
            </a:pPr>
            <a:r>
              <a:rPr lang="en-US"/>
              <a:t>IRONICALLY, THERE WAS NO LAW ENACTED AND CLEARLY IDENTIFIED AND PROCLAIMED THAT DR. JOSE RIZAL AS THE NATIONAL HEROES OF OUR COUNTRY, DUE TO HIS GREAT AND SIGNIFICANT CONTRIBUTION TO THE PHILIPPINES SOCIAL TRANSFORMATIONS MANY FILIPINOS EXTENDS THEIR ACCLAMATION AND VENERATION TO RIZAL. EVEN ANDRES BONIFACIO HAS NO UNSPOKEN LAW THAT DECLARED HIM AS A NATIONAL HERO OF OUR COUNTRY BUT WE HONOR HIS BIRTH EVERY 30</a:t>
            </a:r>
            <a:r>
              <a:rPr baseline="30000" lang="en-US"/>
              <a:t>TH</a:t>
            </a:r>
            <a:r>
              <a:rPr lang="en-US"/>
              <a:t> OF NOVEMBER EACH YEAR AS A NATIONAL CELEBRATION OR A HOLIDAY. </a:t>
            </a:r>
            <a:endParaRPr/>
          </a:p>
          <a:p>
            <a:pPr indent="-228600" lvl="0" marL="228600" rtl="0" algn="l">
              <a:lnSpc>
                <a:spcPct val="120000"/>
              </a:lnSpc>
              <a:spcBef>
                <a:spcPts val="1000"/>
              </a:spcBef>
              <a:spcAft>
                <a:spcPts val="0"/>
              </a:spcAft>
              <a:buSzPct val="100000"/>
              <a:buChar char="•"/>
            </a:pPr>
            <a:r>
              <a:rPr lang="en-US"/>
              <a:t>AMIDST OF INDIRECT PROCLAMATIONS AND DECLARATIONS OF OUR NATIONAL HEROES, NO DOUBT THAT THEY DESERVED THE ADMIRATION AND REVERENCE OF THE NATIONS FOR THEIR GREAT ACT GIVEN TO OUR MOTHERLAND. </a:t>
            </a:r>
            <a:endParaRPr/>
          </a:p>
          <a:p>
            <a:pPr indent="-228600" lvl="0" marL="228600" rtl="0" algn="l">
              <a:lnSpc>
                <a:spcPct val="120000"/>
              </a:lnSpc>
              <a:spcBef>
                <a:spcPts val="1000"/>
              </a:spcBef>
              <a:spcAft>
                <a:spcPts val="0"/>
              </a:spcAft>
              <a:buSzPct val="100000"/>
              <a:buChar char="•"/>
            </a:pPr>
            <a:r>
              <a:rPr lang="en-US"/>
              <a:t>MANY HISTORIANS COMMENTED THAT BEING A NATIONAL HERO IS NOT JUST PROCLAIMED IN LEGISLATION BUT ALSO SETTING THE STANDARD IN SELECTING THE BASIS AND FOUNDATIONS OF BEING A NATIONAL HERO OF A COUNTRY. </a:t>
            </a:r>
            <a:endParaRPr/>
          </a:p>
          <a:p>
            <a:pPr indent="-130175" lvl="0" marL="228600" rtl="0" algn="l">
              <a:lnSpc>
                <a:spcPct val="120000"/>
              </a:lnSpc>
              <a:spcBef>
                <a:spcPts val="1000"/>
              </a:spcBef>
              <a:spcAft>
                <a:spcPts val="0"/>
              </a:spcAft>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b="1" lang="en-US"/>
              <a:t>“WILLIAM HOWARD TAFT COMMISSION” </a:t>
            </a:r>
            <a:br>
              <a:rPr lang="en-US"/>
            </a:br>
            <a:endParaRPr/>
          </a:p>
        </p:txBody>
      </p:sp>
      <p:sp>
        <p:nvSpPr>
          <p:cNvPr id="287" name="Google Shape;287;p39"/>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SzPct val="100000"/>
              <a:buChar char="•"/>
            </a:pPr>
            <a:r>
              <a:rPr lang="en-US" sz="2400"/>
              <a:t>THIS AMERICAN COMMISSION ESTABLISHED THE FACT, CRITERIA AND STANDARD OF A NATIONAL HERO, DURING AMERICAN REGIME AND ERA. THERE WERE FIVE CANDIDATES INCLUDING “DR. JOSE RIZAL, ANTONIO LUNA, M.H.DEL PILAR, G.L JAENA, AND EMILIO JACINTO.” PLEASE VISIT AND READ THE LINK FOR MORE INFORMATION AND CRITERIA OF THE SAID COMMISSION.</a:t>
            </a:r>
            <a:endParaRPr/>
          </a:p>
          <a:p>
            <a:pPr indent="-228600" lvl="3" marL="1600200" rtl="0" algn="l">
              <a:lnSpc>
                <a:spcPct val="120000"/>
              </a:lnSpc>
              <a:spcBef>
                <a:spcPts val="500"/>
              </a:spcBef>
              <a:spcAft>
                <a:spcPts val="0"/>
              </a:spcAft>
              <a:buSzPct val="100000"/>
              <a:buChar char="•"/>
            </a:pPr>
            <a:r>
              <a:rPr lang="en-US" sz="2400"/>
              <a:t>“</a:t>
            </a:r>
            <a:r>
              <a:rPr lang="en-US" sz="2400" u="sng">
                <a:solidFill>
                  <a:schemeClr val="hlink"/>
                </a:solidFill>
                <a:hlinkClick r:id="rId3"/>
              </a:rPr>
              <a:t>HTTPS://UNVEILINGRIZAL.WEEBLY.COM/WHY-RIZAL.HTML</a:t>
            </a:r>
            <a:r>
              <a:rPr lang="en-US" sz="2400"/>
              <a:t>”</a:t>
            </a:r>
            <a:endParaRPr/>
          </a:p>
          <a:p>
            <a:pPr indent="-228600" lvl="3" marL="1600200" rtl="0" algn="l">
              <a:lnSpc>
                <a:spcPct val="120000"/>
              </a:lnSpc>
              <a:spcBef>
                <a:spcPts val="500"/>
              </a:spcBef>
              <a:spcAft>
                <a:spcPts val="0"/>
              </a:spcAft>
              <a:buSzPct val="100000"/>
              <a:buChar char="•"/>
            </a:pPr>
            <a:r>
              <a:rPr lang="en-US" sz="2400"/>
              <a:t>“</a:t>
            </a:r>
            <a:r>
              <a:rPr lang="en-US" sz="2400" u="sng">
                <a:solidFill>
                  <a:schemeClr val="hlink"/>
                </a:solidFill>
                <a:hlinkClick r:id="rId4"/>
              </a:rPr>
              <a:t>HTTPS://WWW.BAGUIOHERALDEXPRESSONLINE.COM/GOVT-NOT-REMISS-IN-RECOGNIZING-RIZALS-HEROISM/</a:t>
            </a:r>
            <a:r>
              <a:rPr lang="en-US" sz="2400"/>
              <a:t> “</a:t>
            </a:r>
            <a:endParaRPr/>
          </a:p>
          <a:p>
            <a:pPr indent="-228600" lvl="0" marL="228600" rtl="0" algn="l">
              <a:lnSpc>
                <a:spcPct val="120000"/>
              </a:lnSpc>
              <a:spcBef>
                <a:spcPts val="1000"/>
              </a:spcBef>
              <a:spcAft>
                <a:spcPts val="0"/>
              </a:spcAft>
              <a:buSzPct val="100000"/>
              <a:buChar char="•"/>
            </a:pPr>
            <a:r>
              <a:rPr lang="en-US" sz="2400"/>
              <a:t>LATER ON, IN OUR HISTORY THE FORMER PRESIDENT FIDEL V. RAMOS CREATED A NATIONAL COMMISSION TO INVESTIGATE AND LEGISLATE THE CRITERIA OF THE NATIONAL SYMBOLS AND HERO OF OUR COUNTRY. (IT WILL BE DISCUSSED ON MODULE 9)</a:t>
            </a:r>
            <a:endParaRPr/>
          </a:p>
          <a:p>
            <a:pPr indent="-130175" lvl="0" marL="228600" rtl="0" algn="l">
              <a:lnSpc>
                <a:spcPct val="120000"/>
              </a:lnSpc>
              <a:spcBef>
                <a:spcPts val="1000"/>
              </a:spcBef>
              <a:spcAft>
                <a:spcPts val="0"/>
              </a:spcAft>
              <a:buSzPct val="100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type="title"/>
          </p:nvPr>
        </p:nvSpPr>
        <p:spPr>
          <a:xfrm>
            <a:off x="913775" y="618517"/>
            <a:ext cx="10364451" cy="12356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wentieth Century"/>
              <a:buNone/>
            </a:pPr>
            <a:r>
              <a:rPr b="1" lang="en-US"/>
              <a:t>CRITERIA FOR CHOOSING A NATIONAL HERO (TAFT COMMISSION, 1901)</a:t>
            </a:r>
            <a:br>
              <a:rPr b="1" lang="en-US"/>
            </a:br>
            <a:endParaRPr/>
          </a:p>
        </p:txBody>
      </p:sp>
      <p:sp>
        <p:nvSpPr>
          <p:cNvPr id="293" name="Google Shape;293;p40"/>
          <p:cNvSpPr txBox="1"/>
          <p:nvPr>
            <p:ph idx="1" type="body"/>
          </p:nvPr>
        </p:nvSpPr>
        <p:spPr>
          <a:xfrm>
            <a:off x="913774" y="1714500"/>
            <a:ext cx="10363826" cy="4368800"/>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SzPct val="100000"/>
              <a:buChar char="•"/>
            </a:pPr>
            <a:r>
              <a:rPr b="1" lang="en-US"/>
              <a:t>1. THE PERSON MUST BE A FILIPINO.</a:t>
            </a:r>
            <a:br>
              <a:rPr lang="en-US"/>
            </a:br>
            <a:r>
              <a:rPr lang="en-US"/>
              <a:t>– THE HERO SHOULD BE A NATIVE OF THE PHILIPPINES AND EMBODY FILIPINO IDEALS, IDENTITY, AND ASPIRATIONS.</a:t>
            </a:r>
            <a:endParaRPr/>
          </a:p>
          <a:p>
            <a:pPr indent="-228600" lvl="0" marL="228600" rtl="0" algn="l">
              <a:lnSpc>
                <a:spcPct val="120000"/>
              </a:lnSpc>
              <a:spcBef>
                <a:spcPts val="1000"/>
              </a:spcBef>
              <a:spcAft>
                <a:spcPts val="0"/>
              </a:spcAft>
              <a:buSzPct val="100000"/>
              <a:buChar char="•"/>
            </a:pPr>
            <a:r>
              <a:rPr b="1" lang="en-US"/>
              <a:t>2. THE PERSON MUST BE DEAD.</a:t>
            </a:r>
            <a:br>
              <a:rPr lang="en-US"/>
            </a:br>
            <a:r>
              <a:rPr lang="en-US"/>
              <a:t>– ONLY THOSE WHO HAD ALREADY PASSED AWAY COULD BE CONSIDERED, TO AVOID POLITICAL CONFLICTS WITH LIVING PERSONALITIES.</a:t>
            </a:r>
            <a:endParaRPr/>
          </a:p>
          <a:p>
            <a:pPr indent="-228600" lvl="0" marL="228600" rtl="0" algn="l">
              <a:lnSpc>
                <a:spcPct val="120000"/>
              </a:lnSpc>
              <a:spcBef>
                <a:spcPts val="1000"/>
              </a:spcBef>
              <a:spcAft>
                <a:spcPts val="0"/>
              </a:spcAft>
              <a:buSzPct val="100000"/>
              <a:buChar char="•"/>
            </a:pPr>
            <a:r>
              <a:rPr b="1" lang="en-US"/>
              <a:t>3. THE PERSON MUST HAVE A SOLID SENSE OF PATRIOTISM.</a:t>
            </a:r>
            <a:br>
              <a:rPr lang="en-US"/>
            </a:br>
            <a:r>
              <a:rPr lang="en-US"/>
              <a:t>– THE HERO MUST HAVE SHOWN DEEP LOVE FOR THE COUNTRY THROUGH SACRIFICE, SERVICE, OR WRITINGS THAT AWAKENED NATIONAL CONSCIOUSNESS.</a:t>
            </a:r>
            <a:endParaRPr/>
          </a:p>
          <a:p>
            <a:pPr indent="-228600" lvl="0" marL="228600" rtl="0" algn="l">
              <a:lnSpc>
                <a:spcPct val="120000"/>
              </a:lnSpc>
              <a:spcBef>
                <a:spcPts val="1000"/>
              </a:spcBef>
              <a:spcAft>
                <a:spcPts val="0"/>
              </a:spcAft>
              <a:buSzPct val="100000"/>
              <a:buChar char="•"/>
            </a:pPr>
            <a:r>
              <a:rPr lang="en-US"/>
              <a:t>.</a:t>
            </a:r>
            <a:r>
              <a:rPr b="1" lang="en-US"/>
              <a:t> 4. THE PERSON MUST HAVE DIED FOR OUR COUNTRY.</a:t>
            </a:r>
            <a:br>
              <a:rPr lang="en-US"/>
            </a:br>
            <a:r>
              <a:rPr lang="en-US"/>
              <a:t>– THE HERO SHOULD HAVE OFFERED HIS LIFE FOR THE WELFARE, FREEDOM, AND INDEPENDENCE OF THE FILIPINO NATION.</a:t>
            </a:r>
            <a:endParaRPr/>
          </a:p>
          <a:p>
            <a:pPr indent="-228600" lvl="0" marL="228600" rtl="0" algn="l">
              <a:lnSpc>
                <a:spcPct val="120000"/>
              </a:lnSpc>
              <a:spcBef>
                <a:spcPts val="1000"/>
              </a:spcBef>
              <a:spcAft>
                <a:spcPts val="0"/>
              </a:spcAft>
              <a:buSzPct val="100000"/>
              <a:buChar char="•"/>
            </a:pPr>
            <a:r>
              <a:rPr b="1" lang="en-US"/>
              <a:t>5. THE PERSON MUST HAVE USED PEACEFUL MEANS TO FIGHT.</a:t>
            </a:r>
            <a:br>
              <a:rPr lang="en-US"/>
            </a:br>
            <a:r>
              <a:rPr lang="en-US"/>
              <a:t>– THE HERO SHOULD INSPIRE CHANGE THROUGH REFORMS, EDUCATION, OR WRITINGS, NOT SOLELY BY ARMED STRUGGLE.</a:t>
            </a:r>
            <a:endParaRPr/>
          </a:p>
          <a:p>
            <a:pPr indent="-130175" lvl="0" marL="228600" rtl="0" algn="l">
              <a:lnSpc>
                <a:spcPct val="120000"/>
              </a:lnSpc>
              <a:spcBef>
                <a:spcPts val="1000"/>
              </a:spcBef>
              <a:spcAft>
                <a:spcPts val="0"/>
              </a:spcAft>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1"/>
          <p:cNvSpPr txBox="1"/>
          <p:nvPr>
            <p:ph type="title"/>
          </p:nvPr>
        </p:nvSpPr>
        <p:spPr>
          <a:xfrm>
            <a:off x="913775" y="618517"/>
            <a:ext cx="10364451" cy="11848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wentieth Century"/>
              <a:buNone/>
            </a:pPr>
            <a:r>
              <a:rPr lang="en-US"/>
              <a:t>JOSÉ RIZAL’S HEROISM WAS </a:t>
            </a:r>
            <a:r>
              <a:rPr b="1" lang="en-US"/>
              <a:t>RECOGNIZED OFFICIALLY BY BOTH FILIPINOS AND AMERICANS</a:t>
            </a:r>
            <a:r>
              <a:rPr lang="en-US"/>
              <a:t> AFTER HIS DEATH:</a:t>
            </a:r>
            <a:br>
              <a:rPr lang="en-US"/>
            </a:br>
            <a:endParaRPr/>
          </a:p>
        </p:txBody>
      </p:sp>
      <p:sp>
        <p:nvSpPr>
          <p:cNvPr id="299" name="Google Shape;299;p41"/>
          <p:cNvSpPr txBox="1"/>
          <p:nvPr>
            <p:ph idx="1" type="body"/>
          </p:nvPr>
        </p:nvSpPr>
        <p:spPr>
          <a:xfrm>
            <a:off x="913774" y="1701800"/>
            <a:ext cx="10363826" cy="4089399"/>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20000"/>
              </a:lnSpc>
              <a:spcBef>
                <a:spcPts val="0"/>
              </a:spcBef>
              <a:spcAft>
                <a:spcPts val="0"/>
              </a:spcAft>
              <a:buSzPct val="100000"/>
              <a:buNone/>
            </a:pPr>
            <a:r>
              <a:t/>
            </a:r>
            <a:endParaRPr/>
          </a:p>
          <a:p>
            <a:pPr indent="-228600" lvl="0" marL="228600" rtl="0" algn="l">
              <a:lnSpc>
                <a:spcPct val="120000"/>
              </a:lnSpc>
              <a:spcBef>
                <a:spcPts val="1000"/>
              </a:spcBef>
              <a:spcAft>
                <a:spcPts val="0"/>
              </a:spcAft>
              <a:buSzPct val="100000"/>
              <a:buChar char="•"/>
            </a:pPr>
            <a:r>
              <a:rPr b="1" lang="en-US"/>
              <a:t>THE FILIPINO PEOPLE (1896 ONWARDS):</a:t>
            </a:r>
            <a:endParaRPr/>
          </a:p>
          <a:p>
            <a:pPr indent="-228600" lvl="1" marL="685800" rtl="0" algn="l">
              <a:lnSpc>
                <a:spcPct val="120000"/>
              </a:lnSpc>
              <a:spcBef>
                <a:spcPts val="500"/>
              </a:spcBef>
              <a:spcAft>
                <a:spcPts val="0"/>
              </a:spcAft>
              <a:buSzPct val="100000"/>
              <a:buChar char="•"/>
            </a:pPr>
            <a:r>
              <a:rPr lang="en-US"/>
              <a:t>IMMEDIATELY AFTER HIS EXECUTION ON </a:t>
            </a:r>
            <a:r>
              <a:rPr b="1" lang="en-US"/>
              <a:t>DECEMBER 30, 1896</a:t>
            </a:r>
            <a:r>
              <a:rPr lang="en-US"/>
              <a:t>, RIZAL WAS MOURNED AS A MARTYR BY FILIPINOS. HIS WRITINGS AND SACRIFICE INSPIRED THE REVOLUTIONARIES OF THE KATIPUNAN AND THE BROADER FIGHT FOR INDEPENDENCE.</a:t>
            </a:r>
            <a:endParaRPr/>
          </a:p>
          <a:p>
            <a:pPr indent="-228600" lvl="0" marL="228600" rtl="0" algn="l">
              <a:lnSpc>
                <a:spcPct val="120000"/>
              </a:lnSpc>
              <a:spcBef>
                <a:spcPts val="1000"/>
              </a:spcBef>
              <a:spcAft>
                <a:spcPts val="0"/>
              </a:spcAft>
              <a:buSzPct val="100000"/>
              <a:buChar char="•"/>
            </a:pPr>
            <a:r>
              <a:rPr b="1" lang="en-US"/>
              <a:t>THE FIRST PHILIPPINE REPUBLIC (1898–1899):</a:t>
            </a:r>
            <a:endParaRPr/>
          </a:p>
          <a:p>
            <a:pPr indent="-228600" lvl="1" marL="685800" rtl="0" algn="l">
              <a:lnSpc>
                <a:spcPct val="120000"/>
              </a:lnSpc>
              <a:spcBef>
                <a:spcPts val="500"/>
              </a:spcBef>
              <a:spcAft>
                <a:spcPts val="0"/>
              </a:spcAft>
              <a:buSzPct val="100000"/>
              <a:buChar char="•"/>
            </a:pPr>
            <a:r>
              <a:rPr lang="en-US"/>
              <a:t>LEADERS LIKE </a:t>
            </a:r>
            <a:r>
              <a:rPr b="1" lang="en-US"/>
              <a:t>APOLINARIO MABINI</a:t>
            </a:r>
            <a:r>
              <a:rPr lang="en-US"/>
              <a:t> AND </a:t>
            </a:r>
            <a:r>
              <a:rPr b="1" lang="en-US"/>
              <a:t>EMILIO AGUINALDO</a:t>
            </a:r>
            <a:r>
              <a:rPr lang="en-US"/>
              <a:t> HONORED RIZAL, RECOGNIZING HIM AS A GUIDING LIGHT OF THE REVOLUTION.</a:t>
            </a:r>
            <a:endParaRPr/>
          </a:p>
          <a:p>
            <a:pPr indent="-228600" lvl="1" marL="685800" rtl="0" algn="l">
              <a:lnSpc>
                <a:spcPct val="120000"/>
              </a:lnSpc>
              <a:spcBef>
                <a:spcPts val="500"/>
              </a:spcBef>
              <a:spcAft>
                <a:spcPts val="0"/>
              </a:spcAft>
              <a:buSzPct val="100000"/>
              <a:buChar char="•"/>
            </a:pPr>
            <a:r>
              <a:rPr lang="en-US"/>
              <a:t>AGUINALDO, AS PRESIDENT, ISSUED DECREES TO HONOR HIM, INCLUDING THE DECLARATION OF </a:t>
            </a:r>
            <a:r>
              <a:rPr b="1" lang="en-US"/>
              <a:t>DECEMBER 30, 1898</a:t>
            </a:r>
            <a:r>
              <a:rPr lang="en-US"/>
              <a:t> AS A DAY OF NATIONAL MOURNING FOR RIZAL AND OTHER MARTYRS.</a:t>
            </a:r>
            <a:endParaRPr/>
          </a:p>
          <a:p>
            <a:pPr indent="-228600" lvl="0" marL="228600" rtl="0" algn="l">
              <a:lnSpc>
                <a:spcPct val="120000"/>
              </a:lnSpc>
              <a:spcBef>
                <a:spcPts val="1000"/>
              </a:spcBef>
              <a:spcAft>
                <a:spcPts val="0"/>
              </a:spcAft>
              <a:buSzPct val="100000"/>
              <a:buChar char="•"/>
            </a:pPr>
            <a:r>
              <a:rPr b="1" lang="en-US"/>
              <a:t>THE AMERICAN COLONIAL GOVERNMENT (EARLY 1900S):</a:t>
            </a:r>
            <a:endParaRPr/>
          </a:p>
          <a:p>
            <a:pPr indent="-228600" lvl="1" marL="685800" rtl="0" algn="l">
              <a:lnSpc>
                <a:spcPct val="120000"/>
              </a:lnSpc>
              <a:spcBef>
                <a:spcPts val="500"/>
              </a:spcBef>
              <a:spcAft>
                <a:spcPts val="0"/>
              </a:spcAft>
              <a:buSzPct val="100000"/>
              <a:buChar char="•"/>
            </a:pPr>
            <a:r>
              <a:rPr lang="en-US"/>
              <a:t>THE </a:t>
            </a:r>
            <a:r>
              <a:rPr b="1" lang="en-US"/>
              <a:t>TAFT COMMISSION</a:t>
            </a:r>
            <a:r>
              <a:rPr lang="en-US"/>
              <a:t>, UNDER GOVERNOR WILLIAM HOWARD TAFT, FORMALLY RECOGNIZED RIZAL AS A </a:t>
            </a:r>
            <a:r>
              <a:rPr b="1" lang="en-US"/>
              <a:t>NATIONAL HERO</a:t>
            </a:r>
            <a:r>
              <a:rPr lang="en-US"/>
              <a:t>.</a:t>
            </a:r>
            <a:endParaRPr/>
          </a:p>
          <a:p>
            <a:pPr indent="-228600" lvl="1" marL="685800" rtl="0" algn="l">
              <a:lnSpc>
                <a:spcPct val="120000"/>
              </a:lnSpc>
              <a:spcBef>
                <a:spcPts val="500"/>
              </a:spcBef>
              <a:spcAft>
                <a:spcPts val="0"/>
              </a:spcAft>
              <a:buSzPct val="100000"/>
              <a:buChar char="•"/>
            </a:pPr>
            <a:r>
              <a:rPr lang="en-US"/>
              <a:t>AMERICANS EMPHASIZED HIS PEACEFUL REFORMIST IDEALS (RATHER THAN ARMED REVOLUTION) BECAUSE THESE ALIGNED WITH THEIR COLONIAL POLICIES.</a:t>
            </a:r>
            <a:endParaRPr/>
          </a:p>
          <a:p>
            <a:pPr indent="-228600" lvl="1" marL="685800" rtl="0" algn="l">
              <a:lnSpc>
                <a:spcPct val="120000"/>
              </a:lnSpc>
              <a:spcBef>
                <a:spcPts val="500"/>
              </a:spcBef>
              <a:spcAft>
                <a:spcPts val="0"/>
              </a:spcAft>
              <a:buSzPct val="100000"/>
              <a:buChar char="•"/>
            </a:pPr>
            <a:r>
              <a:rPr lang="en-US"/>
              <a:t>IN 1901, THE </a:t>
            </a:r>
            <a:r>
              <a:rPr b="1" lang="en-US"/>
              <a:t>PHILIPPINE COMMISSION PASSED ACT NO. 137</a:t>
            </a:r>
            <a:r>
              <a:rPr lang="en-US"/>
              <a:t>, DESIGNATING DECEMBER 30 AS </a:t>
            </a:r>
            <a:r>
              <a:rPr b="1" lang="en-US"/>
              <a:t>RIZAL DAY</a:t>
            </a:r>
            <a:r>
              <a:rPr lang="en-US"/>
              <a:t>.</a:t>
            </a:r>
            <a:endParaRPr/>
          </a:p>
          <a:p>
            <a:pPr indent="-130175" lvl="0" marL="228600" rtl="0" algn="l">
              <a:lnSpc>
                <a:spcPct val="120000"/>
              </a:lnSpc>
              <a:spcBef>
                <a:spcPts val="1000"/>
              </a:spcBef>
              <a:spcAft>
                <a:spcPts val="0"/>
              </a:spcAft>
              <a:buSzPct val="1000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ph type="title"/>
          </p:nvPr>
        </p:nvSpPr>
        <p:spPr>
          <a:xfrm>
            <a:off x="913775" y="618517"/>
            <a:ext cx="10364451" cy="13118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wentieth Century"/>
              <a:buNone/>
            </a:pPr>
            <a:r>
              <a:rPr b="1" lang="en-US"/>
              <a:t>EMILIO AGUINALDO HIMSELF FORMALLY RECOGNIZED RIZAL’S HEROISM</a:t>
            </a:r>
            <a:r>
              <a:rPr lang="en-US"/>
              <a:t> EVEN BEFORE THE AMERICANS DID.</a:t>
            </a:r>
            <a:br>
              <a:rPr lang="en-US"/>
            </a:br>
            <a:endParaRPr/>
          </a:p>
        </p:txBody>
      </p:sp>
      <p:sp>
        <p:nvSpPr>
          <p:cNvPr id="305" name="Google Shape;305;p42"/>
          <p:cNvSpPr txBox="1"/>
          <p:nvPr>
            <p:ph idx="1" type="body"/>
          </p:nvPr>
        </p:nvSpPr>
        <p:spPr>
          <a:xfrm>
            <a:off x="913774" y="1930400"/>
            <a:ext cx="10363826" cy="43688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SzPct val="100000"/>
              <a:buChar char="•"/>
            </a:pPr>
            <a:r>
              <a:rPr lang="en-US"/>
              <a:t>🔹 </a:t>
            </a:r>
            <a:r>
              <a:rPr b="1" lang="en-US"/>
              <a:t>KEY RECOGNITION BY AGUINALDO:</a:t>
            </a:r>
            <a:endParaRPr/>
          </a:p>
          <a:p>
            <a:pPr indent="-228600" lvl="0" marL="228600" rtl="0" algn="l">
              <a:lnSpc>
                <a:spcPct val="120000"/>
              </a:lnSpc>
              <a:spcBef>
                <a:spcPts val="1000"/>
              </a:spcBef>
              <a:spcAft>
                <a:spcPts val="0"/>
              </a:spcAft>
              <a:buSzPct val="100000"/>
              <a:buChar char="•"/>
            </a:pPr>
            <a:r>
              <a:rPr lang="en-US"/>
              <a:t>ON </a:t>
            </a:r>
            <a:r>
              <a:rPr b="1" lang="en-US"/>
              <a:t>DECEMBER 20, 1898</a:t>
            </a:r>
            <a:r>
              <a:rPr lang="en-US"/>
              <a:t>, AS PRESIDENT OF THE </a:t>
            </a:r>
            <a:r>
              <a:rPr b="1" lang="en-US"/>
              <a:t>FIRST PHILIPPINE REPUBLIC</a:t>
            </a:r>
            <a:r>
              <a:rPr lang="en-US"/>
              <a:t>, AGUINALDO ISSUED A </a:t>
            </a:r>
            <a:r>
              <a:rPr b="1" lang="en-US"/>
              <a:t>DECREE DECLARING DECEMBER 30, 1898</a:t>
            </a:r>
            <a:r>
              <a:rPr lang="en-US"/>
              <a:t> (THE SECOND ANNIVERSARY OF RIZAL’S EXECUTION) AS A </a:t>
            </a:r>
            <a:r>
              <a:rPr b="1" lang="en-US"/>
              <a:t>DAY OF NATIONAL MOURNING</a:t>
            </a:r>
            <a:r>
              <a:rPr lang="en-US"/>
              <a:t> IN HONOR OF </a:t>
            </a:r>
            <a:r>
              <a:rPr b="1" lang="en-US"/>
              <a:t>DR. JOSÉ RIZAL AND OTHER VICTIMS OF SPANISH TYRANNY</a:t>
            </a:r>
            <a:r>
              <a:rPr lang="en-US"/>
              <a:t>.</a:t>
            </a:r>
            <a:endParaRPr/>
          </a:p>
          <a:p>
            <a:pPr indent="-228600" lvl="0" marL="228600" rtl="0" algn="l">
              <a:lnSpc>
                <a:spcPct val="120000"/>
              </a:lnSpc>
              <a:spcBef>
                <a:spcPts val="1000"/>
              </a:spcBef>
              <a:spcAft>
                <a:spcPts val="0"/>
              </a:spcAft>
              <a:buSzPct val="100000"/>
              <a:buChar char="•"/>
            </a:pPr>
            <a:r>
              <a:rPr lang="en-US"/>
              <a:t>THIS WAS THE </a:t>
            </a:r>
            <a:r>
              <a:rPr b="1" lang="en-US"/>
              <a:t>FIRST OFFICIAL RECOGNITION OF RIZAL AS A NATIONAL HERO</a:t>
            </a:r>
            <a:r>
              <a:rPr lang="en-US"/>
              <a:t> BY A FILIPINO GOVERNMENT.</a:t>
            </a:r>
            <a:endParaRPr/>
          </a:p>
          <a:p>
            <a:pPr indent="-228600" lvl="0" marL="228600" rtl="0" algn="l">
              <a:lnSpc>
                <a:spcPct val="120000"/>
              </a:lnSpc>
              <a:spcBef>
                <a:spcPts val="1000"/>
              </a:spcBef>
              <a:spcAft>
                <a:spcPts val="0"/>
              </a:spcAft>
              <a:buSzPct val="100000"/>
              <a:buChar char="•"/>
            </a:pPr>
            <a:r>
              <a:rPr lang="en-US"/>
              <a:t>🔹 </a:t>
            </a:r>
            <a:r>
              <a:rPr b="1" lang="en-US"/>
              <a:t>WHY AGUINALDO RECOGNIZED HIM:</a:t>
            </a:r>
            <a:endParaRPr/>
          </a:p>
          <a:p>
            <a:pPr indent="-228600" lvl="0" marL="228600" rtl="0" algn="l">
              <a:lnSpc>
                <a:spcPct val="120000"/>
              </a:lnSpc>
              <a:spcBef>
                <a:spcPts val="1000"/>
              </a:spcBef>
              <a:spcAft>
                <a:spcPts val="0"/>
              </a:spcAft>
              <a:buSzPct val="100000"/>
              <a:buChar char="•"/>
            </a:pPr>
            <a:r>
              <a:rPr lang="en-US"/>
              <a:t>AGUINALDO ADMIRED RIZAL’S INTELLECT AND SACRIFICE.</a:t>
            </a:r>
            <a:endParaRPr/>
          </a:p>
          <a:p>
            <a:pPr indent="-228600" lvl="0" marL="228600" rtl="0" algn="l">
              <a:lnSpc>
                <a:spcPct val="120000"/>
              </a:lnSpc>
              <a:spcBef>
                <a:spcPts val="1000"/>
              </a:spcBef>
              <a:spcAft>
                <a:spcPts val="0"/>
              </a:spcAft>
              <a:buSzPct val="100000"/>
              <a:buChar char="•"/>
            </a:pPr>
            <a:r>
              <a:rPr lang="en-US"/>
              <a:t>EVEN THOUGH RIZAL DID NOT DIRECTLY LEAD THE REVOLUTION, AGUINALDO AND THE REVOLUTIONARIES REGARDED HIM AS A </a:t>
            </a:r>
            <a:r>
              <a:rPr b="1" lang="en-US"/>
              <a:t>MARTYR WHOSE DEATH AWAKENED FILIPINO NATIONALISM</a:t>
            </a:r>
            <a:r>
              <a:rPr lang="en-US"/>
              <a:t>.</a:t>
            </a:r>
            <a:endParaRPr/>
          </a:p>
          <a:p>
            <a:pPr indent="-111125" lvl="0" marL="228600" rtl="0" algn="l">
              <a:lnSpc>
                <a:spcPct val="120000"/>
              </a:lnSpc>
              <a:spcBef>
                <a:spcPts val="1000"/>
              </a:spcBef>
              <a:spcAft>
                <a:spcPts val="0"/>
              </a:spcAft>
              <a:buSzPct val="100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3"/>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Twentieth Century"/>
              <a:buNone/>
            </a:pPr>
            <a:r>
              <a:rPr b="1" lang="en-US" sz="5400"/>
              <a:t>CONCLUSION</a:t>
            </a:r>
            <a:endParaRPr/>
          </a:p>
        </p:txBody>
      </p:sp>
      <p:grpSp>
        <p:nvGrpSpPr>
          <p:cNvPr id="311" name="Google Shape;311;p43"/>
          <p:cNvGrpSpPr/>
          <p:nvPr/>
        </p:nvGrpSpPr>
        <p:grpSpPr>
          <a:xfrm>
            <a:off x="886422" y="1491772"/>
            <a:ext cx="10419156" cy="5385755"/>
            <a:chOff x="-27978" y="-578328"/>
            <a:chExt cx="10419156" cy="5385755"/>
          </a:xfrm>
        </p:grpSpPr>
        <p:sp>
          <p:nvSpPr>
            <p:cNvPr id="312" name="Google Shape;312;p43"/>
            <p:cNvSpPr/>
            <p:nvPr/>
          </p:nvSpPr>
          <p:spPr>
            <a:xfrm>
              <a:off x="553501" y="578328"/>
              <a:ext cx="3024901" cy="4229099"/>
            </a:xfrm>
            <a:prstGeom prst="roundRect">
              <a:avLst>
                <a:gd fmla="val 10000" name="adj"/>
              </a:avLst>
            </a:prstGeom>
            <a:solidFill>
              <a:srgbClr val="E24A79"/>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3"/>
            <p:cNvSpPr txBox="1"/>
            <p:nvPr/>
          </p:nvSpPr>
          <p:spPr>
            <a:xfrm>
              <a:off x="553501" y="2269967"/>
              <a:ext cx="3024901" cy="1691639"/>
            </a:xfrm>
            <a:prstGeom prst="rect">
              <a:avLst/>
            </a:prstGeom>
            <a:noFill/>
            <a:ln>
              <a:noFill/>
            </a:ln>
          </p:spPr>
          <p:txBody>
            <a:bodyPr anchorCtr="0" anchor="ctr" bIns="448050" lIns="448050" spcFirstLastPara="1" rIns="448050" wrap="square" tIns="448050">
              <a:noAutofit/>
            </a:bodyPr>
            <a:lstStyle/>
            <a:p>
              <a:pPr indent="0" lvl="0" marL="0" marR="0" rtl="0" algn="ctr">
                <a:lnSpc>
                  <a:spcPct val="90000"/>
                </a:lnSpc>
                <a:spcBef>
                  <a:spcPts val="0"/>
                </a:spcBef>
                <a:spcAft>
                  <a:spcPts val="0"/>
                </a:spcAft>
                <a:buNone/>
              </a:pPr>
              <a:r>
                <a:t/>
              </a:r>
              <a:endParaRPr b="0" i="0" sz="6300" u="none" cap="none" strike="noStrike">
                <a:solidFill>
                  <a:schemeClr val="lt1"/>
                </a:solidFill>
                <a:latin typeface="Twentieth Century"/>
                <a:ea typeface="Twentieth Century"/>
                <a:cs typeface="Twentieth Century"/>
                <a:sym typeface="Twentieth Century"/>
              </a:endParaRPr>
            </a:p>
          </p:txBody>
        </p:sp>
        <p:sp>
          <p:nvSpPr>
            <p:cNvPr id="314" name="Google Shape;314;p43"/>
            <p:cNvSpPr/>
            <p:nvPr/>
          </p:nvSpPr>
          <p:spPr>
            <a:xfrm>
              <a:off x="-27978" y="-578328"/>
              <a:ext cx="4187860" cy="4229094"/>
            </a:xfrm>
            <a:prstGeom prst="ellipse">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3"/>
            <p:cNvSpPr/>
            <p:nvPr/>
          </p:nvSpPr>
          <p:spPr>
            <a:xfrm>
              <a:off x="4250628" y="0"/>
              <a:ext cx="3024901" cy="4229099"/>
            </a:xfrm>
            <a:prstGeom prst="roundRect">
              <a:avLst>
                <a:gd fmla="val 10000" name="adj"/>
              </a:avLst>
            </a:prstGeom>
            <a:solidFill>
              <a:srgbClr val="E24A79"/>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3"/>
            <p:cNvSpPr txBox="1"/>
            <p:nvPr/>
          </p:nvSpPr>
          <p:spPr>
            <a:xfrm>
              <a:off x="4250628" y="1691639"/>
              <a:ext cx="3024901" cy="1691639"/>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None/>
              </a:pPr>
              <a:r>
                <a:rPr b="1" i="0" lang="en-US" sz="2400" u="none" cap="none" strike="noStrike">
                  <a:solidFill>
                    <a:schemeClr val="lt1"/>
                  </a:solidFill>
                  <a:latin typeface="Twentieth Century"/>
                  <a:ea typeface="Twentieth Century"/>
                  <a:cs typeface="Twentieth Century"/>
                  <a:sym typeface="Twentieth Century"/>
                </a:rPr>
                <a:t>Summary </a:t>
              </a:r>
              <a:r>
                <a:rPr b="0" i="0" lang="en-US" sz="2400" u="none" cap="none" strike="noStrike">
                  <a:solidFill>
                    <a:schemeClr val="lt1"/>
                  </a:solidFill>
                  <a:latin typeface="Twentieth Century"/>
                  <a:ea typeface="Twentieth Century"/>
                  <a:cs typeface="Twentieth Century"/>
                  <a:sym typeface="Twentieth Century"/>
                </a:rPr>
                <a:t>RA 1425 is more than just a law; it is a vital tool in preserving the legacy of José Rizal and fostering a sense of patriotism among Filipinos.</a:t>
              </a:r>
              <a:endParaRPr b="0" i="0" sz="2400" u="none" cap="none" strike="noStrike">
                <a:solidFill>
                  <a:schemeClr val="lt1"/>
                </a:solidFill>
                <a:latin typeface="Twentieth Century"/>
                <a:ea typeface="Twentieth Century"/>
                <a:cs typeface="Twentieth Century"/>
                <a:sym typeface="Twentieth Century"/>
              </a:endParaRPr>
            </a:p>
          </p:txBody>
        </p:sp>
        <p:sp>
          <p:nvSpPr>
            <p:cNvPr id="317" name="Google Shape;317;p43"/>
            <p:cNvSpPr/>
            <p:nvPr/>
          </p:nvSpPr>
          <p:spPr>
            <a:xfrm flipH="1" rot="10800000">
              <a:off x="5058934" y="856796"/>
              <a:ext cx="1408289" cy="202188"/>
            </a:xfrm>
            <a:prstGeom prst="ellipse">
              <a:avLst/>
            </a:prstGeom>
            <a:solidFill>
              <a:srgbClr val="F1C0CA"/>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3"/>
            <p:cNvSpPr/>
            <p:nvPr/>
          </p:nvSpPr>
          <p:spPr>
            <a:xfrm>
              <a:off x="7366277" y="0"/>
              <a:ext cx="3024901" cy="4229099"/>
            </a:xfrm>
            <a:prstGeom prst="roundRect">
              <a:avLst>
                <a:gd fmla="val 10000" name="adj"/>
              </a:avLst>
            </a:prstGeom>
            <a:solidFill>
              <a:srgbClr val="E24A79"/>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3"/>
            <p:cNvSpPr txBox="1"/>
            <p:nvPr/>
          </p:nvSpPr>
          <p:spPr>
            <a:xfrm>
              <a:off x="7366277" y="1691639"/>
              <a:ext cx="3024901" cy="1691639"/>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None/>
              </a:pPr>
              <a:r>
                <a:rPr b="1" i="0" lang="en-US" sz="2400" u="none" cap="none" strike="noStrike">
                  <a:solidFill>
                    <a:schemeClr val="lt1"/>
                  </a:solidFill>
                  <a:latin typeface="Twentieth Century"/>
                  <a:ea typeface="Twentieth Century"/>
                  <a:cs typeface="Twentieth Century"/>
                  <a:sym typeface="Twentieth Century"/>
                </a:rPr>
                <a:t>Call to Action</a:t>
              </a:r>
              <a:r>
                <a:rPr b="0" i="0" lang="en-US" sz="2400" u="none" cap="none" strike="noStrike">
                  <a:solidFill>
                    <a:schemeClr val="lt1"/>
                  </a:solidFill>
                  <a:latin typeface="Twentieth Century"/>
                  <a:ea typeface="Twentieth Century"/>
                  <a:cs typeface="Twentieth Century"/>
                  <a:sym typeface="Twentieth Century"/>
                </a:rPr>
                <a:t>Encouragement for students to engage deeply with Rizal’s works and embody the values he championed.</a:t>
              </a:r>
              <a:endParaRPr b="0" i="0" sz="2400" u="none" cap="none" strike="noStrike">
                <a:solidFill>
                  <a:schemeClr val="lt1"/>
                </a:solidFill>
                <a:latin typeface="Twentieth Century"/>
                <a:ea typeface="Twentieth Century"/>
                <a:cs typeface="Twentieth Century"/>
                <a:sym typeface="Twentieth Century"/>
              </a:endParaRPr>
            </a:p>
          </p:txBody>
        </p:sp>
        <p:sp>
          <p:nvSpPr>
            <p:cNvPr id="320" name="Google Shape;320;p43"/>
            <p:cNvSpPr/>
            <p:nvPr/>
          </p:nvSpPr>
          <p:spPr>
            <a:xfrm>
              <a:off x="8715056" y="749302"/>
              <a:ext cx="327342" cy="417177"/>
            </a:xfrm>
            <a:prstGeom prst="ellipse">
              <a:avLst/>
            </a:prstGeom>
            <a:solidFill>
              <a:srgbClr val="F1C0CA"/>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3"/>
            <p:cNvSpPr/>
            <p:nvPr/>
          </p:nvSpPr>
          <p:spPr>
            <a:xfrm flipH="1" rot="10800000">
              <a:off x="615183" y="3623604"/>
              <a:ext cx="9182417" cy="605494"/>
            </a:xfrm>
            <a:prstGeom prst="leftRightArrow">
              <a:avLst>
                <a:gd fmla="val 50000" name="adj1"/>
                <a:gd fmla="val 50000" name="adj2"/>
              </a:avLst>
            </a:prstGeom>
            <a:solidFill>
              <a:srgbClr val="EFAEB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Droplet">
  <a:themeElements>
    <a:clrScheme name="Droplet">
      <a:dk1>
        <a:srgbClr val="000000"/>
      </a:dk1>
      <a:lt1>
        <a:srgbClr val="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